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60" r:id="rId5"/>
    <p:sldId id="259"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1D1A7"/>
    <a:srgbClr val="F5EFA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9" d="100"/>
          <a:sy n="109" d="100"/>
        </p:scale>
        <p:origin x="120"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ata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4" Type="http://schemas.openxmlformats.org/officeDocument/2006/relationships/image" Target="../media/image1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4" Type="http://schemas.openxmlformats.org/officeDocument/2006/relationships/image" Target="../media/image15.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4D712F4-FE4F-450D-90A0-3936F85F6E2E}"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EDDD215F-988A-4F48-86DE-F19E0251260F}">
      <dgm:prSet/>
      <dgm:spPr/>
      <dgm:t>
        <a:bodyPr/>
        <a:lstStyle/>
        <a:p>
          <a:pPr>
            <a:defRPr cap="all"/>
          </a:pPr>
          <a:r>
            <a:rPr lang="en-US"/>
            <a:t>My initial goal was to look at the data and determine which values would have the biggest effect on delivery time.</a:t>
          </a:r>
        </a:p>
      </dgm:t>
    </dgm:pt>
    <dgm:pt modelId="{D0CCF277-E3CE-4A22-8E1B-05E24E1D5DF4}" type="parTrans" cxnId="{2BD2A9FE-5465-485A-A3B2-31474B0BDE3B}">
      <dgm:prSet/>
      <dgm:spPr/>
      <dgm:t>
        <a:bodyPr/>
        <a:lstStyle/>
        <a:p>
          <a:endParaRPr lang="en-US"/>
        </a:p>
      </dgm:t>
    </dgm:pt>
    <dgm:pt modelId="{66CEB486-57D0-43D4-BD1E-4E7B7C7C7473}" type="sibTrans" cxnId="{2BD2A9FE-5465-485A-A3B2-31474B0BDE3B}">
      <dgm:prSet/>
      <dgm:spPr/>
      <dgm:t>
        <a:bodyPr/>
        <a:lstStyle/>
        <a:p>
          <a:endParaRPr lang="en-US"/>
        </a:p>
      </dgm:t>
    </dgm:pt>
    <dgm:pt modelId="{C0B2EFEB-F4AB-49AB-85AB-4661ADE07733}">
      <dgm:prSet/>
      <dgm:spPr/>
      <dgm:t>
        <a:bodyPr/>
        <a:lstStyle/>
        <a:p>
          <a:pPr>
            <a:defRPr cap="all"/>
          </a:pPr>
          <a:r>
            <a:rPr lang="en-US" dirty="0"/>
            <a:t>Next, I wanted to make ML models to see if I could predict the time an order would take based on the variables.</a:t>
          </a:r>
        </a:p>
      </dgm:t>
    </dgm:pt>
    <dgm:pt modelId="{2E6726AC-F85D-4F8F-B1AB-4D9E59383DDA}" type="parTrans" cxnId="{FBEC31F8-EA10-4AE2-A798-BCF0147EE2E8}">
      <dgm:prSet/>
      <dgm:spPr/>
      <dgm:t>
        <a:bodyPr/>
        <a:lstStyle/>
        <a:p>
          <a:endParaRPr lang="en-US"/>
        </a:p>
      </dgm:t>
    </dgm:pt>
    <dgm:pt modelId="{B3FFF743-284F-4E8A-99A3-F56ADCF9C37D}" type="sibTrans" cxnId="{FBEC31F8-EA10-4AE2-A798-BCF0147EE2E8}">
      <dgm:prSet/>
      <dgm:spPr/>
      <dgm:t>
        <a:bodyPr/>
        <a:lstStyle/>
        <a:p>
          <a:endParaRPr lang="en-US"/>
        </a:p>
      </dgm:t>
    </dgm:pt>
    <dgm:pt modelId="{4F706B7C-780C-4C8F-AD3A-1803543F9309}">
      <dgm:prSet/>
      <dgm:spPr/>
      <dgm:t>
        <a:bodyPr/>
        <a:lstStyle/>
        <a:p>
          <a:pPr>
            <a:defRPr cap="all"/>
          </a:pPr>
          <a:r>
            <a:rPr lang="en-US" dirty="0"/>
            <a:t>Finally, I wanted to classify if an order would be late or not based off the features.</a:t>
          </a:r>
        </a:p>
      </dgm:t>
    </dgm:pt>
    <dgm:pt modelId="{062024C2-CE80-4F7C-A7BC-F4789A611C5C}" type="parTrans" cxnId="{0382BF9B-5378-4FA4-8940-3CF6B2A54CFA}">
      <dgm:prSet/>
      <dgm:spPr/>
      <dgm:t>
        <a:bodyPr/>
        <a:lstStyle/>
        <a:p>
          <a:endParaRPr lang="en-US"/>
        </a:p>
      </dgm:t>
    </dgm:pt>
    <dgm:pt modelId="{6CCEB468-C727-46C3-AA5A-D976CAD94FCF}" type="sibTrans" cxnId="{0382BF9B-5378-4FA4-8940-3CF6B2A54CFA}">
      <dgm:prSet/>
      <dgm:spPr/>
      <dgm:t>
        <a:bodyPr/>
        <a:lstStyle/>
        <a:p>
          <a:endParaRPr lang="en-US"/>
        </a:p>
      </dgm:t>
    </dgm:pt>
    <dgm:pt modelId="{1ED74516-AF0D-4771-8374-2E39FAC2B555}" type="pres">
      <dgm:prSet presAssocID="{E4D712F4-FE4F-450D-90A0-3936F85F6E2E}" presName="root" presStyleCnt="0">
        <dgm:presLayoutVars>
          <dgm:dir/>
          <dgm:resizeHandles val="exact"/>
        </dgm:presLayoutVars>
      </dgm:prSet>
      <dgm:spPr/>
    </dgm:pt>
    <dgm:pt modelId="{14F64FCA-1761-4AFD-BA28-A1961196FEF8}" type="pres">
      <dgm:prSet presAssocID="{EDDD215F-988A-4F48-86DE-F19E0251260F}" presName="compNode" presStyleCnt="0"/>
      <dgm:spPr/>
    </dgm:pt>
    <dgm:pt modelId="{84CF2953-94A0-47F3-B90A-9F038D30DA57}" type="pres">
      <dgm:prSet presAssocID="{EDDD215F-988A-4F48-86DE-F19E0251260F}" presName="iconBgRect" presStyleLbl="bgShp" presStyleIdx="0" presStyleCnt="3"/>
      <dgm:spPr/>
    </dgm:pt>
    <dgm:pt modelId="{E1285751-86A7-4B2D-A197-56602B604842}" type="pres">
      <dgm:prSet presAssocID="{EDDD215F-988A-4F48-86DE-F19E0251260F}"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usiness Growth"/>
        </a:ext>
      </dgm:extLst>
    </dgm:pt>
    <dgm:pt modelId="{E9FCE456-E83F-4885-9DC3-8EEE67CEBAA3}" type="pres">
      <dgm:prSet presAssocID="{EDDD215F-988A-4F48-86DE-F19E0251260F}" presName="spaceRect" presStyleCnt="0"/>
      <dgm:spPr/>
    </dgm:pt>
    <dgm:pt modelId="{A1233F56-8B44-4E3D-B238-7B289F93061E}" type="pres">
      <dgm:prSet presAssocID="{EDDD215F-988A-4F48-86DE-F19E0251260F}" presName="textRect" presStyleLbl="revTx" presStyleIdx="0" presStyleCnt="3">
        <dgm:presLayoutVars>
          <dgm:chMax val="1"/>
          <dgm:chPref val="1"/>
        </dgm:presLayoutVars>
      </dgm:prSet>
      <dgm:spPr/>
    </dgm:pt>
    <dgm:pt modelId="{11F97387-5F56-4591-9EB4-461E4D799DC4}" type="pres">
      <dgm:prSet presAssocID="{66CEB486-57D0-43D4-BD1E-4E7B7C7C7473}" presName="sibTrans" presStyleCnt="0"/>
      <dgm:spPr/>
    </dgm:pt>
    <dgm:pt modelId="{B05197E1-9B19-4F94-9BE2-22E056745F38}" type="pres">
      <dgm:prSet presAssocID="{C0B2EFEB-F4AB-49AB-85AB-4661ADE07733}" presName="compNode" presStyleCnt="0"/>
      <dgm:spPr/>
    </dgm:pt>
    <dgm:pt modelId="{186671D6-3E23-49F4-B494-9CDC0CB04931}" type="pres">
      <dgm:prSet presAssocID="{C0B2EFEB-F4AB-49AB-85AB-4661ADE07733}" presName="iconBgRect" presStyleLbl="bgShp" presStyleIdx="1" presStyleCnt="3"/>
      <dgm:spPr/>
    </dgm:pt>
    <dgm:pt modelId="{525C3AB3-F71A-43B5-89C5-7CD97195BA85}" type="pres">
      <dgm:prSet presAssocID="{C0B2EFEB-F4AB-49AB-85AB-4661ADE07733}"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atistics"/>
        </a:ext>
      </dgm:extLst>
    </dgm:pt>
    <dgm:pt modelId="{33B4CAFC-DF08-4B2A-9880-BC0A11A80693}" type="pres">
      <dgm:prSet presAssocID="{C0B2EFEB-F4AB-49AB-85AB-4661ADE07733}" presName="spaceRect" presStyleCnt="0"/>
      <dgm:spPr/>
    </dgm:pt>
    <dgm:pt modelId="{02497506-42B1-4D92-B9ED-D9344610384A}" type="pres">
      <dgm:prSet presAssocID="{C0B2EFEB-F4AB-49AB-85AB-4661ADE07733}" presName="textRect" presStyleLbl="revTx" presStyleIdx="1" presStyleCnt="3">
        <dgm:presLayoutVars>
          <dgm:chMax val="1"/>
          <dgm:chPref val="1"/>
        </dgm:presLayoutVars>
      </dgm:prSet>
      <dgm:spPr/>
    </dgm:pt>
    <dgm:pt modelId="{FD2788CC-EDF1-404C-987F-DEB641DA34B9}" type="pres">
      <dgm:prSet presAssocID="{B3FFF743-284F-4E8A-99A3-F56ADCF9C37D}" presName="sibTrans" presStyleCnt="0"/>
      <dgm:spPr/>
    </dgm:pt>
    <dgm:pt modelId="{9417FC0D-A2C0-4BA6-9303-9F2135B94A88}" type="pres">
      <dgm:prSet presAssocID="{4F706B7C-780C-4C8F-AD3A-1803543F9309}" presName="compNode" presStyleCnt="0"/>
      <dgm:spPr/>
    </dgm:pt>
    <dgm:pt modelId="{217904AD-844D-470E-8B63-317880C192D9}" type="pres">
      <dgm:prSet presAssocID="{4F706B7C-780C-4C8F-AD3A-1803543F9309}" presName="iconBgRect" presStyleLbl="bgShp" presStyleIdx="2" presStyleCnt="3"/>
      <dgm:spPr/>
    </dgm:pt>
    <dgm:pt modelId="{D6FDC477-1F08-47B4-AA2F-ABDDAEB7BB9F}" type="pres">
      <dgm:prSet presAssocID="{4F706B7C-780C-4C8F-AD3A-1803543F9309}"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Flowchart"/>
        </a:ext>
      </dgm:extLst>
    </dgm:pt>
    <dgm:pt modelId="{83E0B6E2-62BD-42B3-B06D-1C71FBC62616}" type="pres">
      <dgm:prSet presAssocID="{4F706B7C-780C-4C8F-AD3A-1803543F9309}" presName="spaceRect" presStyleCnt="0"/>
      <dgm:spPr/>
    </dgm:pt>
    <dgm:pt modelId="{5759C93B-39BA-47FA-B0A3-BA7587CB0AE0}" type="pres">
      <dgm:prSet presAssocID="{4F706B7C-780C-4C8F-AD3A-1803543F9309}" presName="textRect" presStyleLbl="revTx" presStyleIdx="2" presStyleCnt="3">
        <dgm:presLayoutVars>
          <dgm:chMax val="1"/>
          <dgm:chPref val="1"/>
        </dgm:presLayoutVars>
      </dgm:prSet>
      <dgm:spPr/>
    </dgm:pt>
  </dgm:ptLst>
  <dgm:cxnLst>
    <dgm:cxn modelId="{0329E806-7B15-44BE-BCD3-98B09C16B269}" type="presOf" srcId="{EDDD215F-988A-4F48-86DE-F19E0251260F}" destId="{A1233F56-8B44-4E3D-B238-7B289F93061E}" srcOrd="0" destOrd="0" presId="urn:microsoft.com/office/officeart/2018/5/layout/IconCircleLabelList"/>
    <dgm:cxn modelId="{36D41D26-3493-4585-9FC6-3BFC4B51F907}" type="presOf" srcId="{E4D712F4-FE4F-450D-90A0-3936F85F6E2E}" destId="{1ED74516-AF0D-4771-8374-2E39FAC2B555}" srcOrd="0" destOrd="0" presId="urn:microsoft.com/office/officeart/2018/5/layout/IconCircleLabelList"/>
    <dgm:cxn modelId="{FCCC296C-D066-4BF0-B629-FB85A80A0004}" type="presOf" srcId="{4F706B7C-780C-4C8F-AD3A-1803543F9309}" destId="{5759C93B-39BA-47FA-B0A3-BA7587CB0AE0}" srcOrd="0" destOrd="0" presId="urn:microsoft.com/office/officeart/2018/5/layout/IconCircleLabelList"/>
    <dgm:cxn modelId="{0382BF9B-5378-4FA4-8940-3CF6B2A54CFA}" srcId="{E4D712F4-FE4F-450D-90A0-3936F85F6E2E}" destId="{4F706B7C-780C-4C8F-AD3A-1803543F9309}" srcOrd="2" destOrd="0" parTransId="{062024C2-CE80-4F7C-A7BC-F4789A611C5C}" sibTransId="{6CCEB468-C727-46C3-AA5A-D976CAD94FCF}"/>
    <dgm:cxn modelId="{C8ABBCCB-D4E3-400A-8C52-A7A57680F2C7}" type="presOf" srcId="{C0B2EFEB-F4AB-49AB-85AB-4661ADE07733}" destId="{02497506-42B1-4D92-B9ED-D9344610384A}" srcOrd="0" destOrd="0" presId="urn:microsoft.com/office/officeart/2018/5/layout/IconCircleLabelList"/>
    <dgm:cxn modelId="{FBEC31F8-EA10-4AE2-A798-BCF0147EE2E8}" srcId="{E4D712F4-FE4F-450D-90A0-3936F85F6E2E}" destId="{C0B2EFEB-F4AB-49AB-85AB-4661ADE07733}" srcOrd="1" destOrd="0" parTransId="{2E6726AC-F85D-4F8F-B1AB-4D9E59383DDA}" sibTransId="{B3FFF743-284F-4E8A-99A3-F56ADCF9C37D}"/>
    <dgm:cxn modelId="{2BD2A9FE-5465-485A-A3B2-31474B0BDE3B}" srcId="{E4D712F4-FE4F-450D-90A0-3936F85F6E2E}" destId="{EDDD215F-988A-4F48-86DE-F19E0251260F}" srcOrd="0" destOrd="0" parTransId="{D0CCF277-E3CE-4A22-8E1B-05E24E1D5DF4}" sibTransId="{66CEB486-57D0-43D4-BD1E-4E7B7C7C7473}"/>
    <dgm:cxn modelId="{B4A36CBC-428E-4D80-91B3-1346C24E3B1A}" type="presParOf" srcId="{1ED74516-AF0D-4771-8374-2E39FAC2B555}" destId="{14F64FCA-1761-4AFD-BA28-A1961196FEF8}" srcOrd="0" destOrd="0" presId="urn:microsoft.com/office/officeart/2018/5/layout/IconCircleLabelList"/>
    <dgm:cxn modelId="{0D6D0A6C-DC88-49AD-8F46-0248F27C68F5}" type="presParOf" srcId="{14F64FCA-1761-4AFD-BA28-A1961196FEF8}" destId="{84CF2953-94A0-47F3-B90A-9F038D30DA57}" srcOrd="0" destOrd="0" presId="urn:microsoft.com/office/officeart/2018/5/layout/IconCircleLabelList"/>
    <dgm:cxn modelId="{AED05B33-EB54-4ABE-9439-8DE7DD7E853D}" type="presParOf" srcId="{14F64FCA-1761-4AFD-BA28-A1961196FEF8}" destId="{E1285751-86A7-4B2D-A197-56602B604842}" srcOrd="1" destOrd="0" presId="urn:microsoft.com/office/officeart/2018/5/layout/IconCircleLabelList"/>
    <dgm:cxn modelId="{457639DF-C0DE-45CD-9E13-28843DDB9D06}" type="presParOf" srcId="{14F64FCA-1761-4AFD-BA28-A1961196FEF8}" destId="{E9FCE456-E83F-4885-9DC3-8EEE67CEBAA3}" srcOrd="2" destOrd="0" presId="urn:microsoft.com/office/officeart/2018/5/layout/IconCircleLabelList"/>
    <dgm:cxn modelId="{E14E4D57-9ABC-4AD0-BDA4-2E45107F0429}" type="presParOf" srcId="{14F64FCA-1761-4AFD-BA28-A1961196FEF8}" destId="{A1233F56-8B44-4E3D-B238-7B289F93061E}" srcOrd="3" destOrd="0" presId="urn:microsoft.com/office/officeart/2018/5/layout/IconCircleLabelList"/>
    <dgm:cxn modelId="{F83A0173-589B-443B-A515-C77617F0DE5C}" type="presParOf" srcId="{1ED74516-AF0D-4771-8374-2E39FAC2B555}" destId="{11F97387-5F56-4591-9EB4-461E4D799DC4}" srcOrd="1" destOrd="0" presId="urn:microsoft.com/office/officeart/2018/5/layout/IconCircleLabelList"/>
    <dgm:cxn modelId="{2BA6AD3C-D336-400C-B22F-9D6B12311A1E}" type="presParOf" srcId="{1ED74516-AF0D-4771-8374-2E39FAC2B555}" destId="{B05197E1-9B19-4F94-9BE2-22E056745F38}" srcOrd="2" destOrd="0" presId="urn:microsoft.com/office/officeart/2018/5/layout/IconCircleLabelList"/>
    <dgm:cxn modelId="{585E10B5-CF52-4114-BF19-905A111A8607}" type="presParOf" srcId="{B05197E1-9B19-4F94-9BE2-22E056745F38}" destId="{186671D6-3E23-49F4-B494-9CDC0CB04931}" srcOrd="0" destOrd="0" presId="urn:microsoft.com/office/officeart/2018/5/layout/IconCircleLabelList"/>
    <dgm:cxn modelId="{AB8DFDAB-4746-437C-B7C5-3EF12BC4E47C}" type="presParOf" srcId="{B05197E1-9B19-4F94-9BE2-22E056745F38}" destId="{525C3AB3-F71A-43B5-89C5-7CD97195BA85}" srcOrd="1" destOrd="0" presId="urn:microsoft.com/office/officeart/2018/5/layout/IconCircleLabelList"/>
    <dgm:cxn modelId="{FD2830CA-A4CF-459E-AF9C-9261BEA77397}" type="presParOf" srcId="{B05197E1-9B19-4F94-9BE2-22E056745F38}" destId="{33B4CAFC-DF08-4B2A-9880-BC0A11A80693}" srcOrd="2" destOrd="0" presId="urn:microsoft.com/office/officeart/2018/5/layout/IconCircleLabelList"/>
    <dgm:cxn modelId="{C98BEF89-E2D5-494D-ABC0-0EA3A819770D}" type="presParOf" srcId="{B05197E1-9B19-4F94-9BE2-22E056745F38}" destId="{02497506-42B1-4D92-B9ED-D9344610384A}" srcOrd="3" destOrd="0" presId="urn:microsoft.com/office/officeart/2018/5/layout/IconCircleLabelList"/>
    <dgm:cxn modelId="{AC4904C9-A465-4E7B-BA1B-8930D4FDD6E5}" type="presParOf" srcId="{1ED74516-AF0D-4771-8374-2E39FAC2B555}" destId="{FD2788CC-EDF1-404C-987F-DEB641DA34B9}" srcOrd="3" destOrd="0" presId="urn:microsoft.com/office/officeart/2018/5/layout/IconCircleLabelList"/>
    <dgm:cxn modelId="{02C13984-513A-4DB0-8BBB-29C3D5AD2BAA}" type="presParOf" srcId="{1ED74516-AF0D-4771-8374-2E39FAC2B555}" destId="{9417FC0D-A2C0-4BA6-9303-9F2135B94A88}" srcOrd="4" destOrd="0" presId="urn:microsoft.com/office/officeart/2018/5/layout/IconCircleLabelList"/>
    <dgm:cxn modelId="{3B38BFAA-C7AB-4E25-A7A2-46CBB856538D}" type="presParOf" srcId="{9417FC0D-A2C0-4BA6-9303-9F2135B94A88}" destId="{217904AD-844D-470E-8B63-317880C192D9}" srcOrd="0" destOrd="0" presId="urn:microsoft.com/office/officeart/2018/5/layout/IconCircleLabelList"/>
    <dgm:cxn modelId="{1C8A4BD5-D4D2-4D13-AA8C-AA47A75AF468}" type="presParOf" srcId="{9417FC0D-A2C0-4BA6-9303-9F2135B94A88}" destId="{D6FDC477-1F08-47B4-AA2F-ABDDAEB7BB9F}" srcOrd="1" destOrd="0" presId="urn:microsoft.com/office/officeart/2018/5/layout/IconCircleLabelList"/>
    <dgm:cxn modelId="{DAD6F4FD-C63A-4B93-9594-51BDD2E5F741}" type="presParOf" srcId="{9417FC0D-A2C0-4BA6-9303-9F2135B94A88}" destId="{83E0B6E2-62BD-42B3-B06D-1C71FBC62616}" srcOrd="2" destOrd="0" presId="urn:microsoft.com/office/officeart/2018/5/layout/IconCircleLabelList"/>
    <dgm:cxn modelId="{6F640A62-3071-4404-9674-5C8481136F27}" type="presParOf" srcId="{9417FC0D-A2C0-4BA6-9303-9F2135B94A88}" destId="{5759C93B-39BA-47FA-B0A3-BA7587CB0AE0}"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3ECE426-B7FD-4EF0-BCD5-B41C9551FB9F}"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3B89C29F-345C-4AFE-8048-F4524FD09918}">
      <dgm:prSet/>
      <dgm:spPr/>
      <dgm:t>
        <a:bodyPr/>
        <a:lstStyle/>
        <a:p>
          <a:r>
            <a:rPr lang="en-US"/>
            <a:t>My (obvious) prediction is going to be that distance will have the biggest overall effect on delivery time.</a:t>
          </a:r>
        </a:p>
      </dgm:t>
    </dgm:pt>
    <dgm:pt modelId="{5F4C568E-3C3B-47F7-A9DF-BD9456B01454}" type="parTrans" cxnId="{841F81C4-28B8-4D5F-85EA-C21A3CCF5462}">
      <dgm:prSet/>
      <dgm:spPr/>
      <dgm:t>
        <a:bodyPr/>
        <a:lstStyle/>
        <a:p>
          <a:endParaRPr lang="en-US"/>
        </a:p>
      </dgm:t>
    </dgm:pt>
    <dgm:pt modelId="{CD8E289C-5245-407B-9F2E-5290FFAE2AB3}" type="sibTrans" cxnId="{841F81C4-28B8-4D5F-85EA-C21A3CCF5462}">
      <dgm:prSet/>
      <dgm:spPr/>
      <dgm:t>
        <a:bodyPr/>
        <a:lstStyle/>
        <a:p>
          <a:endParaRPr lang="en-US"/>
        </a:p>
      </dgm:t>
    </dgm:pt>
    <dgm:pt modelId="{02220B58-2E91-4B09-84A8-19409E79D686}">
      <dgm:prSet/>
      <dgm:spPr/>
      <dgm:t>
        <a:bodyPr/>
        <a:lstStyle/>
        <a:p>
          <a:r>
            <a:rPr lang="en-US"/>
            <a:t>While metrics such as weather, traffic levels, and vehicle type may also have a big effect distance will have the biggest by far.</a:t>
          </a:r>
        </a:p>
      </dgm:t>
    </dgm:pt>
    <dgm:pt modelId="{6F98F169-9CFF-46E1-A29F-308553B5DDD0}" type="parTrans" cxnId="{6D90BAB5-A391-4F13-A324-7687C40D3779}">
      <dgm:prSet/>
      <dgm:spPr/>
      <dgm:t>
        <a:bodyPr/>
        <a:lstStyle/>
        <a:p>
          <a:endParaRPr lang="en-US"/>
        </a:p>
      </dgm:t>
    </dgm:pt>
    <dgm:pt modelId="{7B152BC8-0CB8-41E3-93EA-536E09DD6A3D}" type="sibTrans" cxnId="{6D90BAB5-A391-4F13-A324-7687C40D3779}">
      <dgm:prSet/>
      <dgm:spPr/>
      <dgm:t>
        <a:bodyPr/>
        <a:lstStyle/>
        <a:p>
          <a:endParaRPr lang="en-US"/>
        </a:p>
      </dgm:t>
    </dgm:pt>
    <dgm:pt modelId="{B8C6A416-7B54-4A02-993F-644B6C494E8F}" type="pres">
      <dgm:prSet presAssocID="{03ECE426-B7FD-4EF0-BCD5-B41C9551FB9F}" presName="linear" presStyleCnt="0">
        <dgm:presLayoutVars>
          <dgm:animLvl val="lvl"/>
          <dgm:resizeHandles val="exact"/>
        </dgm:presLayoutVars>
      </dgm:prSet>
      <dgm:spPr/>
    </dgm:pt>
    <dgm:pt modelId="{6CB5345E-532E-4A8F-AA42-7BB9D9A38939}" type="pres">
      <dgm:prSet presAssocID="{3B89C29F-345C-4AFE-8048-F4524FD09918}" presName="parentText" presStyleLbl="node1" presStyleIdx="0" presStyleCnt="2">
        <dgm:presLayoutVars>
          <dgm:chMax val="0"/>
          <dgm:bulletEnabled val="1"/>
        </dgm:presLayoutVars>
      </dgm:prSet>
      <dgm:spPr/>
    </dgm:pt>
    <dgm:pt modelId="{2CEAAFBA-96D6-4161-8E1F-0F4C762678BA}" type="pres">
      <dgm:prSet presAssocID="{CD8E289C-5245-407B-9F2E-5290FFAE2AB3}" presName="spacer" presStyleCnt="0"/>
      <dgm:spPr/>
    </dgm:pt>
    <dgm:pt modelId="{C84D3BD4-EDF8-4B79-9FDC-2841A42FEA37}" type="pres">
      <dgm:prSet presAssocID="{02220B58-2E91-4B09-84A8-19409E79D686}" presName="parentText" presStyleLbl="node1" presStyleIdx="1" presStyleCnt="2">
        <dgm:presLayoutVars>
          <dgm:chMax val="0"/>
          <dgm:bulletEnabled val="1"/>
        </dgm:presLayoutVars>
      </dgm:prSet>
      <dgm:spPr/>
    </dgm:pt>
  </dgm:ptLst>
  <dgm:cxnLst>
    <dgm:cxn modelId="{1CAA6A03-2770-4186-AA50-76F1A63099BF}" type="presOf" srcId="{02220B58-2E91-4B09-84A8-19409E79D686}" destId="{C84D3BD4-EDF8-4B79-9FDC-2841A42FEA37}" srcOrd="0" destOrd="0" presId="urn:microsoft.com/office/officeart/2005/8/layout/vList2"/>
    <dgm:cxn modelId="{A8919F82-7116-489F-AA11-490E46DDC66A}" type="presOf" srcId="{03ECE426-B7FD-4EF0-BCD5-B41C9551FB9F}" destId="{B8C6A416-7B54-4A02-993F-644B6C494E8F}" srcOrd="0" destOrd="0" presId="urn:microsoft.com/office/officeart/2005/8/layout/vList2"/>
    <dgm:cxn modelId="{6D90BAB5-A391-4F13-A324-7687C40D3779}" srcId="{03ECE426-B7FD-4EF0-BCD5-B41C9551FB9F}" destId="{02220B58-2E91-4B09-84A8-19409E79D686}" srcOrd="1" destOrd="0" parTransId="{6F98F169-9CFF-46E1-A29F-308553B5DDD0}" sibTransId="{7B152BC8-0CB8-41E3-93EA-536E09DD6A3D}"/>
    <dgm:cxn modelId="{841F81C4-28B8-4D5F-85EA-C21A3CCF5462}" srcId="{03ECE426-B7FD-4EF0-BCD5-B41C9551FB9F}" destId="{3B89C29F-345C-4AFE-8048-F4524FD09918}" srcOrd="0" destOrd="0" parTransId="{5F4C568E-3C3B-47F7-A9DF-BD9456B01454}" sibTransId="{CD8E289C-5245-407B-9F2E-5290FFAE2AB3}"/>
    <dgm:cxn modelId="{BAFB38FD-F3F0-4792-9103-7C2F34E9430B}" type="presOf" srcId="{3B89C29F-345C-4AFE-8048-F4524FD09918}" destId="{6CB5345E-532E-4A8F-AA42-7BB9D9A38939}" srcOrd="0" destOrd="0" presId="urn:microsoft.com/office/officeart/2005/8/layout/vList2"/>
    <dgm:cxn modelId="{83D3CAEE-A2DB-4128-9333-1E451970EFD0}" type="presParOf" srcId="{B8C6A416-7B54-4A02-993F-644B6C494E8F}" destId="{6CB5345E-532E-4A8F-AA42-7BB9D9A38939}" srcOrd="0" destOrd="0" presId="urn:microsoft.com/office/officeart/2005/8/layout/vList2"/>
    <dgm:cxn modelId="{FF0B347B-0A1B-406F-9920-60B3E50DE852}" type="presParOf" srcId="{B8C6A416-7B54-4A02-993F-644B6C494E8F}" destId="{2CEAAFBA-96D6-4161-8E1F-0F4C762678BA}" srcOrd="1" destOrd="0" presId="urn:microsoft.com/office/officeart/2005/8/layout/vList2"/>
    <dgm:cxn modelId="{927B45C8-9D5E-427F-8909-CE31C882E983}" type="presParOf" srcId="{B8C6A416-7B54-4A02-993F-644B6C494E8F}" destId="{C84D3BD4-EDF8-4B79-9FDC-2841A42FEA37}"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18CEA77-8B2C-48AE-B8F0-638E54747C91}"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985A8C9C-7080-4938-BF42-8196B802FD1B}">
      <dgm:prSet/>
      <dgm:spPr/>
      <dgm:t>
        <a:bodyPr/>
        <a:lstStyle/>
        <a:p>
          <a:pPr>
            <a:lnSpc>
              <a:spcPct val="100000"/>
            </a:lnSpc>
          </a:pPr>
          <a:r>
            <a:rPr lang="en-US"/>
            <a:t>This shows the distribution of delivery times, and the frequency of said times. </a:t>
          </a:r>
        </a:p>
      </dgm:t>
    </dgm:pt>
    <dgm:pt modelId="{FDD853BD-1FF7-461C-844D-7AD4A686BDB4}" type="parTrans" cxnId="{81366314-FAFF-4A1E-BF9B-FD57DAAF18C4}">
      <dgm:prSet/>
      <dgm:spPr/>
      <dgm:t>
        <a:bodyPr/>
        <a:lstStyle/>
        <a:p>
          <a:endParaRPr lang="en-US"/>
        </a:p>
      </dgm:t>
    </dgm:pt>
    <dgm:pt modelId="{77B2FCD5-D480-4455-939F-2F3B3F2D960C}" type="sibTrans" cxnId="{81366314-FAFF-4A1E-BF9B-FD57DAAF18C4}">
      <dgm:prSet/>
      <dgm:spPr/>
      <dgm:t>
        <a:bodyPr/>
        <a:lstStyle/>
        <a:p>
          <a:endParaRPr lang="en-US"/>
        </a:p>
      </dgm:t>
    </dgm:pt>
    <dgm:pt modelId="{E3D6556B-D24B-4EEE-BC46-74660D3C4A0E}">
      <dgm:prSet/>
      <dgm:spPr/>
      <dgm:t>
        <a:bodyPr/>
        <a:lstStyle/>
        <a:p>
          <a:pPr>
            <a:lnSpc>
              <a:spcPct val="100000"/>
            </a:lnSpc>
          </a:pPr>
          <a:r>
            <a:rPr lang="en-US"/>
            <a:t>Also shown is the average delivery time which was 56.43 minutes.</a:t>
          </a:r>
        </a:p>
      </dgm:t>
    </dgm:pt>
    <dgm:pt modelId="{7922B109-B6FD-4852-A27D-78D592BD6768}" type="parTrans" cxnId="{20E86BD7-6BA6-43AA-B4A7-89154A739F3C}">
      <dgm:prSet/>
      <dgm:spPr/>
      <dgm:t>
        <a:bodyPr/>
        <a:lstStyle/>
        <a:p>
          <a:endParaRPr lang="en-US"/>
        </a:p>
      </dgm:t>
    </dgm:pt>
    <dgm:pt modelId="{A352B18D-814E-4B20-8379-B0B1F3E46FAB}" type="sibTrans" cxnId="{20E86BD7-6BA6-43AA-B4A7-89154A739F3C}">
      <dgm:prSet/>
      <dgm:spPr/>
      <dgm:t>
        <a:bodyPr/>
        <a:lstStyle/>
        <a:p>
          <a:endParaRPr lang="en-US"/>
        </a:p>
      </dgm:t>
    </dgm:pt>
    <dgm:pt modelId="{D752620B-BD51-468E-8476-7258ED971CFA}" type="pres">
      <dgm:prSet presAssocID="{818CEA77-8B2C-48AE-B8F0-638E54747C91}" presName="root" presStyleCnt="0">
        <dgm:presLayoutVars>
          <dgm:dir/>
          <dgm:resizeHandles val="exact"/>
        </dgm:presLayoutVars>
      </dgm:prSet>
      <dgm:spPr/>
    </dgm:pt>
    <dgm:pt modelId="{3906BACF-222F-4D76-8D04-D5261BD95C16}" type="pres">
      <dgm:prSet presAssocID="{985A8C9C-7080-4938-BF42-8196B802FD1B}" presName="compNode" presStyleCnt="0"/>
      <dgm:spPr/>
    </dgm:pt>
    <dgm:pt modelId="{8D8ECF69-8769-4176-822E-FDAC24548D95}" type="pres">
      <dgm:prSet presAssocID="{985A8C9C-7080-4938-BF42-8196B802FD1B}" presName="bgRect" presStyleLbl="bgShp" presStyleIdx="0" presStyleCnt="2"/>
      <dgm:spPr/>
    </dgm:pt>
    <dgm:pt modelId="{41043FF8-3EF3-4414-AA40-1C7467C77F12}" type="pres">
      <dgm:prSet presAssocID="{985A8C9C-7080-4938-BF42-8196B802FD1B}"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Box"/>
        </a:ext>
      </dgm:extLst>
    </dgm:pt>
    <dgm:pt modelId="{5B4EC895-03BC-4CA0-AC1B-5F5E07A05031}" type="pres">
      <dgm:prSet presAssocID="{985A8C9C-7080-4938-BF42-8196B802FD1B}" presName="spaceRect" presStyleCnt="0"/>
      <dgm:spPr/>
    </dgm:pt>
    <dgm:pt modelId="{C28C8550-24D2-404A-9F4E-FCEC4723EFB6}" type="pres">
      <dgm:prSet presAssocID="{985A8C9C-7080-4938-BF42-8196B802FD1B}" presName="parTx" presStyleLbl="revTx" presStyleIdx="0" presStyleCnt="2">
        <dgm:presLayoutVars>
          <dgm:chMax val="0"/>
          <dgm:chPref val="0"/>
        </dgm:presLayoutVars>
      </dgm:prSet>
      <dgm:spPr/>
    </dgm:pt>
    <dgm:pt modelId="{DE97EEB3-3461-491B-BCFD-F42C67C02A21}" type="pres">
      <dgm:prSet presAssocID="{77B2FCD5-D480-4455-939F-2F3B3F2D960C}" presName="sibTrans" presStyleCnt="0"/>
      <dgm:spPr/>
    </dgm:pt>
    <dgm:pt modelId="{96E7007F-7DD2-4FA4-A2DB-B5EE5E1F6D91}" type="pres">
      <dgm:prSet presAssocID="{E3D6556B-D24B-4EEE-BC46-74660D3C4A0E}" presName="compNode" presStyleCnt="0"/>
      <dgm:spPr/>
    </dgm:pt>
    <dgm:pt modelId="{40D840C4-61EA-480D-87FE-4D2CC4A3DF2B}" type="pres">
      <dgm:prSet presAssocID="{E3D6556B-D24B-4EEE-BC46-74660D3C4A0E}" presName="bgRect" presStyleLbl="bgShp" presStyleIdx="1" presStyleCnt="2"/>
      <dgm:spPr/>
    </dgm:pt>
    <dgm:pt modelId="{ACFE2AE1-800E-47F9-BE7D-04DBD3BBEE13}" type="pres">
      <dgm:prSet presAssocID="{E3D6556B-D24B-4EEE-BC46-74660D3C4A0E}"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Watch"/>
        </a:ext>
      </dgm:extLst>
    </dgm:pt>
    <dgm:pt modelId="{DC9D4EDC-4BD9-427D-A7F4-619959D8EC68}" type="pres">
      <dgm:prSet presAssocID="{E3D6556B-D24B-4EEE-BC46-74660D3C4A0E}" presName="spaceRect" presStyleCnt="0"/>
      <dgm:spPr/>
    </dgm:pt>
    <dgm:pt modelId="{73BBFA08-FD3F-4CF3-8639-6CEBD5E2BF65}" type="pres">
      <dgm:prSet presAssocID="{E3D6556B-D24B-4EEE-BC46-74660D3C4A0E}" presName="parTx" presStyleLbl="revTx" presStyleIdx="1" presStyleCnt="2">
        <dgm:presLayoutVars>
          <dgm:chMax val="0"/>
          <dgm:chPref val="0"/>
        </dgm:presLayoutVars>
      </dgm:prSet>
      <dgm:spPr/>
    </dgm:pt>
  </dgm:ptLst>
  <dgm:cxnLst>
    <dgm:cxn modelId="{CA47FC01-0D2B-418B-B543-9B2C9FE4CC0A}" type="presOf" srcId="{985A8C9C-7080-4938-BF42-8196B802FD1B}" destId="{C28C8550-24D2-404A-9F4E-FCEC4723EFB6}" srcOrd="0" destOrd="0" presId="urn:microsoft.com/office/officeart/2018/2/layout/IconVerticalSolidList"/>
    <dgm:cxn modelId="{81366314-FAFF-4A1E-BF9B-FD57DAAF18C4}" srcId="{818CEA77-8B2C-48AE-B8F0-638E54747C91}" destId="{985A8C9C-7080-4938-BF42-8196B802FD1B}" srcOrd="0" destOrd="0" parTransId="{FDD853BD-1FF7-461C-844D-7AD4A686BDB4}" sibTransId="{77B2FCD5-D480-4455-939F-2F3B3F2D960C}"/>
    <dgm:cxn modelId="{3B481A45-6C38-4914-8B31-496923F994AB}" type="presOf" srcId="{818CEA77-8B2C-48AE-B8F0-638E54747C91}" destId="{D752620B-BD51-468E-8476-7258ED971CFA}" srcOrd="0" destOrd="0" presId="urn:microsoft.com/office/officeart/2018/2/layout/IconVerticalSolidList"/>
    <dgm:cxn modelId="{360F2177-EC69-4E6F-966F-00970E094A8E}" type="presOf" srcId="{E3D6556B-D24B-4EEE-BC46-74660D3C4A0E}" destId="{73BBFA08-FD3F-4CF3-8639-6CEBD5E2BF65}" srcOrd="0" destOrd="0" presId="urn:microsoft.com/office/officeart/2018/2/layout/IconVerticalSolidList"/>
    <dgm:cxn modelId="{20E86BD7-6BA6-43AA-B4A7-89154A739F3C}" srcId="{818CEA77-8B2C-48AE-B8F0-638E54747C91}" destId="{E3D6556B-D24B-4EEE-BC46-74660D3C4A0E}" srcOrd="1" destOrd="0" parTransId="{7922B109-B6FD-4852-A27D-78D592BD6768}" sibTransId="{A352B18D-814E-4B20-8379-B0B1F3E46FAB}"/>
    <dgm:cxn modelId="{27F5C468-4987-4F55-8A3E-318D70E87662}" type="presParOf" srcId="{D752620B-BD51-468E-8476-7258ED971CFA}" destId="{3906BACF-222F-4D76-8D04-D5261BD95C16}" srcOrd="0" destOrd="0" presId="urn:microsoft.com/office/officeart/2018/2/layout/IconVerticalSolidList"/>
    <dgm:cxn modelId="{33C27304-7844-48EA-A630-D7A571C03B31}" type="presParOf" srcId="{3906BACF-222F-4D76-8D04-D5261BD95C16}" destId="{8D8ECF69-8769-4176-822E-FDAC24548D95}" srcOrd="0" destOrd="0" presId="urn:microsoft.com/office/officeart/2018/2/layout/IconVerticalSolidList"/>
    <dgm:cxn modelId="{976B933C-B48B-4A3E-92F5-3AC9F5501FFD}" type="presParOf" srcId="{3906BACF-222F-4D76-8D04-D5261BD95C16}" destId="{41043FF8-3EF3-4414-AA40-1C7467C77F12}" srcOrd="1" destOrd="0" presId="urn:microsoft.com/office/officeart/2018/2/layout/IconVerticalSolidList"/>
    <dgm:cxn modelId="{6E5D7910-82B0-4A95-AB38-043DFDA8BE9D}" type="presParOf" srcId="{3906BACF-222F-4D76-8D04-D5261BD95C16}" destId="{5B4EC895-03BC-4CA0-AC1B-5F5E07A05031}" srcOrd="2" destOrd="0" presId="urn:microsoft.com/office/officeart/2018/2/layout/IconVerticalSolidList"/>
    <dgm:cxn modelId="{F45B498B-B78A-4819-996C-B9EF5F1C762D}" type="presParOf" srcId="{3906BACF-222F-4D76-8D04-D5261BD95C16}" destId="{C28C8550-24D2-404A-9F4E-FCEC4723EFB6}" srcOrd="3" destOrd="0" presId="urn:microsoft.com/office/officeart/2018/2/layout/IconVerticalSolidList"/>
    <dgm:cxn modelId="{8779D801-91C7-4B15-815F-44923C067563}" type="presParOf" srcId="{D752620B-BD51-468E-8476-7258ED971CFA}" destId="{DE97EEB3-3461-491B-BCFD-F42C67C02A21}" srcOrd="1" destOrd="0" presId="urn:microsoft.com/office/officeart/2018/2/layout/IconVerticalSolidList"/>
    <dgm:cxn modelId="{31FAC245-FF69-4AEA-85E5-9A8D797E7CFA}" type="presParOf" srcId="{D752620B-BD51-468E-8476-7258ED971CFA}" destId="{96E7007F-7DD2-4FA4-A2DB-B5EE5E1F6D91}" srcOrd="2" destOrd="0" presId="urn:microsoft.com/office/officeart/2018/2/layout/IconVerticalSolidList"/>
    <dgm:cxn modelId="{71DFD0E2-1484-4103-ACD9-2216C7454E1F}" type="presParOf" srcId="{96E7007F-7DD2-4FA4-A2DB-B5EE5E1F6D91}" destId="{40D840C4-61EA-480D-87FE-4D2CC4A3DF2B}" srcOrd="0" destOrd="0" presId="urn:microsoft.com/office/officeart/2018/2/layout/IconVerticalSolidList"/>
    <dgm:cxn modelId="{738516F9-A51E-4238-B3DA-AF60C076C0F3}" type="presParOf" srcId="{96E7007F-7DD2-4FA4-A2DB-B5EE5E1F6D91}" destId="{ACFE2AE1-800E-47F9-BE7D-04DBD3BBEE13}" srcOrd="1" destOrd="0" presId="urn:microsoft.com/office/officeart/2018/2/layout/IconVerticalSolidList"/>
    <dgm:cxn modelId="{51E415A1-67A9-4F3F-80A1-68EEB11527FB}" type="presParOf" srcId="{96E7007F-7DD2-4FA4-A2DB-B5EE5E1F6D91}" destId="{DC9D4EDC-4BD9-427D-A7F4-619959D8EC68}" srcOrd="2" destOrd="0" presId="urn:microsoft.com/office/officeart/2018/2/layout/IconVerticalSolidList"/>
    <dgm:cxn modelId="{7C87BBEB-5087-4944-8566-D6592E5B77E5}" type="presParOf" srcId="{96E7007F-7DD2-4FA4-A2DB-B5EE5E1F6D91}" destId="{73BBFA08-FD3F-4CF3-8639-6CEBD5E2BF65}"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CF2953-94A0-47F3-B90A-9F038D30DA57}">
      <dsp:nvSpPr>
        <dsp:cNvPr id="0" name=""/>
        <dsp:cNvSpPr/>
      </dsp:nvSpPr>
      <dsp:spPr>
        <a:xfrm>
          <a:off x="672175" y="458215"/>
          <a:ext cx="1852875" cy="1852875"/>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1285751-86A7-4B2D-A197-56602B604842}">
      <dsp:nvSpPr>
        <dsp:cNvPr id="0" name=""/>
        <dsp:cNvSpPr/>
      </dsp:nvSpPr>
      <dsp:spPr>
        <a:xfrm>
          <a:off x="1067050" y="853090"/>
          <a:ext cx="1063125" cy="106312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1233F56-8B44-4E3D-B238-7B289F93061E}">
      <dsp:nvSpPr>
        <dsp:cNvPr id="0" name=""/>
        <dsp:cNvSpPr/>
      </dsp:nvSpPr>
      <dsp:spPr>
        <a:xfrm>
          <a:off x="79862" y="2888215"/>
          <a:ext cx="3037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cap="all"/>
          </a:pPr>
          <a:r>
            <a:rPr lang="en-US" sz="1400" kern="1200"/>
            <a:t>My initial goal was to look at the data and determine which values would have the biggest effect on delivery time.</a:t>
          </a:r>
        </a:p>
      </dsp:txBody>
      <dsp:txXfrm>
        <a:off x="79862" y="2888215"/>
        <a:ext cx="3037500" cy="720000"/>
      </dsp:txXfrm>
    </dsp:sp>
    <dsp:sp modelId="{186671D6-3E23-49F4-B494-9CDC0CB04931}">
      <dsp:nvSpPr>
        <dsp:cNvPr id="0" name=""/>
        <dsp:cNvSpPr/>
      </dsp:nvSpPr>
      <dsp:spPr>
        <a:xfrm>
          <a:off x="4241237" y="458215"/>
          <a:ext cx="1852875" cy="1852875"/>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25C3AB3-F71A-43B5-89C5-7CD97195BA85}">
      <dsp:nvSpPr>
        <dsp:cNvPr id="0" name=""/>
        <dsp:cNvSpPr/>
      </dsp:nvSpPr>
      <dsp:spPr>
        <a:xfrm>
          <a:off x="4636112" y="853090"/>
          <a:ext cx="1063125" cy="106312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2497506-42B1-4D92-B9ED-D9344610384A}">
      <dsp:nvSpPr>
        <dsp:cNvPr id="0" name=""/>
        <dsp:cNvSpPr/>
      </dsp:nvSpPr>
      <dsp:spPr>
        <a:xfrm>
          <a:off x="3648925" y="2888215"/>
          <a:ext cx="3037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cap="all"/>
          </a:pPr>
          <a:r>
            <a:rPr lang="en-US" sz="1400" kern="1200" dirty="0"/>
            <a:t>Next, I wanted to make ML models to see if I could predict the time an order would take based on the variables.</a:t>
          </a:r>
        </a:p>
      </dsp:txBody>
      <dsp:txXfrm>
        <a:off x="3648925" y="2888215"/>
        <a:ext cx="3037500" cy="720000"/>
      </dsp:txXfrm>
    </dsp:sp>
    <dsp:sp modelId="{217904AD-844D-470E-8B63-317880C192D9}">
      <dsp:nvSpPr>
        <dsp:cNvPr id="0" name=""/>
        <dsp:cNvSpPr/>
      </dsp:nvSpPr>
      <dsp:spPr>
        <a:xfrm>
          <a:off x="7810300" y="458215"/>
          <a:ext cx="1852875" cy="1852875"/>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6FDC477-1F08-47B4-AA2F-ABDDAEB7BB9F}">
      <dsp:nvSpPr>
        <dsp:cNvPr id="0" name=""/>
        <dsp:cNvSpPr/>
      </dsp:nvSpPr>
      <dsp:spPr>
        <a:xfrm>
          <a:off x="8205175" y="853090"/>
          <a:ext cx="1063125" cy="106312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759C93B-39BA-47FA-B0A3-BA7587CB0AE0}">
      <dsp:nvSpPr>
        <dsp:cNvPr id="0" name=""/>
        <dsp:cNvSpPr/>
      </dsp:nvSpPr>
      <dsp:spPr>
        <a:xfrm>
          <a:off x="7217987" y="2888215"/>
          <a:ext cx="3037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cap="all"/>
          </a:pPr>
          <a:r>
            <a:rPr lang="en-US" sz="1400" kern="1200" dirty="0"/>
            <a:t>Finally, I wanted to classify if an order would be late or not based off the features.</a:t>
          </a:r>
        </a:p>
      </dsp:txBody>
      <dsp:txXfrm>
        <a:off x="7217987" y="2888215"/>
        <a:ext cx="3037500"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B5345E-532E-4A8F-AA42-7BB9D9A38939}">
      <dsp:nvSpPr>
        <dsp:cNvPr id="0" name=""/>
        <dsp:cNvSpPr/>
      </dsp:nvSpPr>
      <dsp:spPr>
        <a:xfrm>
          <a:off x="0" y="64628"/>
          <a:ext cx="5641974" cy="2352796"/>
        </a:xfrm>
        <a:prstGeom prst="round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a:t>My (obvious) prediction is going to be that distance will have the biggest overall effect on delivery time.</a:t>
          </a:r>
        </a:p>
      </dsp:txBody>
      <dsp:txXfrm>
        <a:off x="114854" y="179482"/>
        <a:ext cx="5412266" cy="2123088"/>
      </dsp:txXfrm>
    </dsp:sp>
    <dsp:sp modelId="{C84D3BD4-EDF8-4B79-9FDC-2841A42FEA37}">
      <dsp:nvSpPr>
        <dsp:cNvPr id="0" name=""/>
        <dsp:cNvSpPr/>
      </dsp:nvSpPr>
      <dsp:spPr>
        <a:xfrm>
          <a:off x="0" y="2503825"/>
          <a:ext cx="5641974" cy="2352796"/>
        </a:xfrm>
        <a:prstGeom prst="roundRect">
          <a:avLst/>
        </a:prstGeom>
        <a:solidFill>
          <a:schemeClr val="accent2">
            <a:hueOff val="-1323373"/>
            <a:satOff val="1492"/>
            <a:lumOff val="353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a:t>While metrics such as weather, traffic levels, and vehicle type may also have a big effect distance will have the biggest by far.</a:t>
          </a:r>
        </a:p>
      </dsp:txBody>
      <dsp:txXfrm>
        <a:off x="114854" y="2618679"/>
        <a:ext cx="5412266" cy="212308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8ECF69-8769-4176-822E-FDAC24548D95}">
      <dsp:nvSpPr>
        <dsp:cNvPr id="0" name=""/>
        <dsp:cNvSpPr/>
      </dsp:nvSpPr>
      <dsp:spPr>
        <a:xfrm>
          <a:off x="0" y="466572"/>
          <a:ext cx="7150608" cy="86136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1043FF8-3EF3-4414-AA40-1C7467C77F12}">
      <dsp:nvSpPr>
        <dsp:cNvPr id="0" name=""/>
        <dsp:cNvSpPr/>
      </dsp:nvSpPr>
      <dsp:spPr>
        <a:xfrm>
          <a:off x="260562" y="660379"/>
          <a:ext cx="473750" cy="47375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28C8550-24D2-404A-9F4E-FCEC4723EFB6}">
      <dsp:nvSpPr>
        <dsp:cNvPr id="0" name=""/>
        <dsp:cNvSpPr/>
      </dsp:nvSpPr>
      <dsp:spPr>
        <a:xfrm>
          <a:off x="994876" y="466572"/>
          <a:ext cx="6155731" cy="8613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161" tIns="91161" rIns="91161" bIns="91161" numCol="1" spcCol="1270" anchor="ctr" anchorCtr="0">
          <a:noAutofit/>
        </a:bodyPr>
        <a:lstStyle/>
        <a:p>
          <a:pPr marL="0" lvl="0" indent="0" algn="l" defTabSz="1066800">
            <a:lnSpc>
              <a:spcPct val="100000"/>
            </a:lnSpc>
            <a:spcBef>
              <a:spcPct val="0"/>
            </a:spcBef>
            <a:spcAft>
              <a:spcPct val="35000"/>
            </a:spcAft>
            <a:buNone/>
          </a:pPr>
          <a:r>
            <a:rPr lang="en-US" sz="2400" kern="1200"/>
            <a:t>This shows the distribution of delivery times, and the frequency of said times. </a:t>
          </a:r>
        </a:p>
      </dsp:txBody>
      <dsp:txXfrm>
        <a:off x="994876" y="466572"/>
        <a:ext cx="6155731" cy="861364"/>
      </dsp:txXfrm>
    </dsp:sp>
    <dsp:sp modelId="{40D840C4-61EA-480D-87FE-4D2CC4A3DF2B}">
      <dsp:nvSpPr>
        <dsp:cNvPr id="0" name=""/>
        <dsp:cNvSpPr/>
      </dsp:nvSpPr>
      <dsp:spPr>
        <a:xfrm>
          <a:off x="0" y="1543278"/>
          <a:ext cx="7150608" cy="86136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CFE2AE1-800E-47F9-BE7D-04DBD3BBEE13}">
      <dsp:nvSpPr>
        <dsp:cNvPr id="0" name=""/>
        <dsp:cNvSpPr/>
      </dsp:nvSpPr>
      <dsp:spPr>
        <a:xfrm>
          <a:off x="260562" y="1737085"/>
          <a:ext cx="473750" cy="47375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3BBFA08-FD3F-4CF3-8639-6CEBD5E2BF65}">
      <dsp:nvSpPr>
        <dsp:cNvPr id="0" name=""/>
        <dsp:cNvSpPr/>
      </dsp:nvSpPr>
      <dsp:spPr>
        <a:xfrm>
          <a:off x="994876" y="1543278"/>
          <a:ext cx="6155731" cy="8613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161" tIns="91161" rIns="91161" bIns="91161" numCol="1" spcCol="1270" anchor="ctr" anchorCtr="0">
          <a:noAutofit/>
        </a:bodyPr>
        <a:lstStyle/>
        <a:p>
          <a:pPr marL="0" lvl="0" indent="0" algn="l" defTabSz="1066800">
            <a:lnSpc>
              <a:spcPct val="100000"/>
            </a:lnSpc>
            <a:spcBef>
              <a:spcPct val="0"/>
            </a:spcBef>
            <a:spcAft>
              <a:spcPct val="35000"/>
            </a:spcAft>
            <a:buNone/>
          </a:pPr>
          <a:r>
            <a:rPr lang="en-US" sz="2400" kern="1200"/>
            <a:t>Also shown is the average delivery time which was 56.43 minutes.</a:t>
          </a:r>
        </a:p>
      </dsp:txBody>
      <dsp:txXfrm>
        <a:off x="994876" y="1543278"/>
        <a:ext cx="6155731" cy="861364"/>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C128FA71-3A18-48C0-980F-4B68F7F63042}" type="datetime1">
              <a:rPr lang="en-US" smtClean="0"/>
              <a:t>4/29/2025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61157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1C1210E-201E-4473-82AC-2466F5386C38}" type="datetime1">
              <a:rPr lang="en-US" smtClean="0"/>
              <a:t>4/29/2025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1553703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1EA198-6CAB-4B8F-B93F-1F9C8C4B6CE7}" type="datetime1">
              <a:rPr lang="en-US" smtClean="0"/>
              <a:t>4/29/2025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560416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A06041F-4525-44D5-AA4F-332294BF1F56}" type="datetime1">
              <a:rPr lang="en-US" smtClean="0"/>
              <a:t>4/29/2025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7273317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9557091-BBDF-4EB9-BA6B-2BB67AC4FC0F}" type="datetime1">
              <a:rPr lang="en-US" smtClean="0"/>
              <a:t>4/29/2025</a:t>
            </a:fld>
            <a:endParaRPr lang="en-US"/>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704739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D6B226B-77A6-410C-9796-083F278E0125}" type="datetime1">
              <a:rPr lang="en-US" smtClean="0"/>
              <a:t>4/29/2025</a:t>
            </a:fld>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4729056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23A578B-D289-4C40-8593-3D356C49DA58}" type="datetime1">
              <a:rPr lang="en-US" smtClean="0"/>
              <a:t>4/29/2025</a:t>
            </a:fld>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910734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13DFAE3-14DB-48A7-A80F-80DDB072CE3D}" type="datetime1">
              <a:rPr lang="en-US" smtClean="0"/>
              <a:t>4/29/2025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0157121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2C5EAEF-6478-4102-8F5D-A5FE9FC97ACB}" type="datetime1">
              <a:rPr lang="en-US" smtClean="0"/>
              <a:t>4/29/2025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793442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104EDB3-C0E8-45F8-9E1D-1B6C8D1880C0}" type="datetime1">
              <a:rPr lang="en-US" smtClean="0"/>
              <a:t>4/29/2025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7060781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CF0EC4B-54ED-4041-B552-9BA760FA3DBA}" type="datetime1">
              <a:rPr lang="en-US" smtClean="0"/>
              <a:t>4/29/2025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50883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67F45AC6-C491-4585-A584-9CE2AF7D5500}" type="datetime1">
              <a:rPr lang="en-US" smtClean="0"/>
              <a:t>4/29/2025</a:t>
            </a:fld>
            <a:endParaRPr lang="en-US"/>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dirty="0"/>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CC057153-B650-4DEB-B370-79DDCFDCE934}" type="slidenum">
              <a:rPr lang="en-US" smtClean="0"/>
              <a:t>‹#›</a:t>
            </a:fld>
            <a:endParaRPr lang="en-US"/>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8897483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4" name="Picture 13" descr="Burgers and milkshakes">
            <a:extLst>
              <a:ext uri="{FF2B5EF4-FFF2-40B4-BE49-F238E27FC236}">
                <a16:creationId xmlns:a16="http://schemas.microsoft.com/office/drawing/2014/main" id="{A30F3189-B02A-01AE-A0C7-D6AA90F6B32F}"/>
              </a:ext>
            </a:extLst>
          </p:cNvPr>
          <p:cNvPicPr>
            <a:picLocks noChangeAspect="1"/>
          </p:cNvPicPr>
          <p:nvPr/>
        </p:nvPicPr>
        <p:blipFill>
          <a:blip r:embed="rId2"/>
          <a:srcRect l="3242" t="3966" r="-1" b="14495"/>
          <a:stretch/>
        </p:blipFill>
        <p:spPr>
          <a:xfrm>
            <a:off x="20" y="10"/>
            <a:ext cx="12191979" cy="6857990"/>
          </a:xfrm>
          <a:prstGeom prst="rect">
            <a:avLst/>
          </a:prstGeom>
        </p:spPr>
      </p:pic>
      <p:sp>
        <p:nvSpPr>
          <p:cNvPr id="2" name="Title 1">
            <a:extLst>
              <a:ext uri="{FF2B5EF4-FFF2-40B4-BE49-F238E27FC236}">
                <a16:creationId xmlns:a16="http://schemas.microsoft.com/office/drawing/2014/main" id="{79087ADD-6B65-F5D8-F2A9-E12D89868A58}"/>
              </a:ext>
            </a:extLst>
          </p:cNvPr>
          <p:cNvSpPr>
            <a:spLocks noGrp="1"/>
          </p:cNvSpPr>
          <p:nvPr>
            <p:ph type="ctrTitle"/>
          </p:nvPr>
        </p:nvSpPr>
        <p:spPr>
          <a:xfrm>
            <a:off x="0" y="78488"/>
            <a:ext cx="4834647" cy="3695844"/>
          </a:xfrm>
        </p:spPr>
        <p:txBody>
          <a:bodyPr anchor="t">
            <a:noAutofit/>
          </a:bodyPr>
          <a:lstStyle/>
          <a:p>
            <a:pPr algn="l"/>
            <a:r>
              <a:rPr kumimoji="1" lang="en-US" altLang="ja-JP" sz="8800" dirty="0">
                <a:solidFill>
                  <a:schemeClr val="bg1"/>
                </a:solidFill>
              </a:rPr>
              <a:t>Where’s My Dinner?</a:t>
            </a:r>
            <a:br>
              <a:rPr kumimoji="1" lang="en-US" altLang="ja-JP" sz="8800" dirty="0">
                <a:solidFill>
                  <a:schemeClr val="tx2">
                    <a:lumMod val="90000"/>
                  </a:schemeClr>
                </a:solidFill>
              </a:rPr>
            </a:br>
            <a:endParaRPr kumimoji="1" lang="ja-JP" altLang="en-US" sz="8800" dirty="0">
              <a:solidFill>
                <a:schemeClr val="tx2">
                  <a:lumMod val="90000"/>
                </a:schemeClr>
              </a:solidFill>
            </a:endParaRPr>
          </a:p>
        </p:txBody>
      </p:sp>
      <p:sp>
        <p:nvSpPr>
          <p:cNvPr id="3" name="Subtitle 2">
            <a:extLst>
              <a:ext uri="{FF2B5EF4-FFF2-40B4-BE49-F238E27FC236}">
                <a16:creationId xmlns:a16="http://schemas.microsoft.com/office/drawing/2014/main" id="{B722011A-4C36-2550-8172-DC6918C6C30D}"/>
              </a:ext>
            </a:extLst>
          </p:cNvPr>
          <p:cNvSpPr>
            <a:spLocks noGrp="1"/>
          </p:cNvSpPr>
          <p:nvPr>
            <p:ph type="subTitle" idx="1"/>
          </p:nvPr>
        </p:nvSpPr>
        <p:spPr>
          <a:xfrm>
            <a:off x="8653272" y="5897880"/>
            <a:ext cx="3538728" cy="960120"/>
          </a:xfrm>
        </p:spPr>
        <p:txBody>
          <a:bodyPr anchor="t">
            <a:normAutofit/>
          </a:bodyPr>
          <a:lstStyle/>
          <a:p>
            <a:pPr algn="r"/>
            <a:r>
              <a:rPr lang="en-US" altLang="ja-JP" sz="2000" dirty="0"/>
              <a:t>Food Delivery Time EDA</a:t>
            </a:r>
          </a:p>
          <a:p>
            <a:pPr algn="r"/>
            <a:r>
              <a:rPr kumimoji="1" lang="en-US" altLang="ja-JP" sz="2000" dirty="0"/>
              <a:t>Sean Hand</a:t>
            </a:r>
            <a:endParaRPr kumimoji="1" lang="ja-JP" altLang="en-US" sz="2000" dirty="0"/>
          </a:p>
        </p:txBody>
      </p:sp>
    </p:spTree>
    <p:extLst>
      <p:ext uri="{BB962C8B-B14F-4D97-AF65-F5344CB8AC3E}">
        <p14:creationId xmlns:p14="http://schemas.microsoft.com/office/powerpoint/2010/main" val="1262740432"/>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1500"/>
                                  </p:stCondLst>
                                  <p:iterate>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7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5D7C5E0-DF19-2F6E-EC5C-FB04DA8E81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985753"/>
          </a:xfrm>
          <a:prstGeom prst="rect">
            <a:avLst/>
          </a:prstGeom>
        </p:spPr>
      </p:pic>
      <p:sp>
        <p:nvSpPr>
          <p:cNvPr id="2" name="Title 1">
            <a:extLst>
              <a:ext uri="{FF2B5EF4-FFF2-40B4-BE49-F238E27FC236}">
                <a16:creationId xmlns:a16="http://schemas.microsoft.com/office/drawing/2014/main" id="{70BEDD69-A811-62E4-1C2C-55224C945B47}"/>
              </a:ext>
            </a:extLst>
          </p:cNvPr>
          <p:cNvSpPr>
            <a:spLocks noGrp="1"/>
          </p:cNvSpPr>
          <p:nvPr>
            <p:ph type="title"/>
          </p:nvPr>
        </p:nvSpPr>
        <p:spPr>
          <a:xfrm>
            <a:off x="6689188" y="1"/>
            <a:ext cx="2067951" cy="923330"/>
          </a:xfrm>
          <a:solidFill>
            <a:schemeClr val="bg1"/>
          </a:solidFill>
        </p:spPr>
        <p:txBody>
          <a:bodyPr>
            <a:normAutofit fontScale="90000"/>
          </a:bodyPr>
          <a:lstStyle/>
          <a:p>
            <a:r>
              <a:rPr kumimoji="1" lang="en-US" altLang="ja-JP" dirty="0"/>
              <a:t>The Data!</a:t>
            </a:r>
            <a:endParaRPr kumimoji="1" lang="ja-JP" altLang="en-US" dirty="0"/>
          </a:p>
        </p:txBody>
      </p:sp>
      <p:pic>
        <p:nvPicPr>
          <p:cNvPr id="5" name="Content Placeholder 4">
            <a:extLst>
              <a:ext uri="{FF2B5EF4-FFF2-40B4-BE49-F238E27FC236}">
                <a16:creationId xmlns:a16="http://schemas.microsoft.com/office/drawing/2014/main" id="{0716A776-55C1-C4CF-A637-7A10353986A5}"/>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 y="5359791"/>
            <a:ext cx="12191999" cy="1625961"/>
          </a:xfrm>
        </p:spPr>
      </p:pic>
      <p:sp>
        <p:nvSpPr>
          <p:cNvPr id="6" name="TextBox 5">
            <a:extLst>
              <a:ext uri="{FF2B5EF4-FFF2-40B4-BE49-F238E27FC236}">
                <a16:creationId xmlns:a16="http://schemas.microsoft.com/office/drawing/2014/main" id="{DF0A4683-CB33-D3F1-6AF5-4398737C0289}"/>
              </a:ext>
            </a:extLst>
          </p:cNvPr>
          <p:cNvSpPr txBox="1"/>
          <p:nvPr/>
        </p:nvSpPr>
        <p:spPr>
          <a:xfrm>
            <a:off x="8757139" y="0"/>
            <a:ext cx="3523956" cy="923330"/>
          </a:xfrm>
          <a:prstGeom prst="rect">
            <a:avLst/>
          </a:prstGeom>
          <a:solidFill>
            <a:schemeClr val="bg1"/>
          </a:solidFill>
        </p:spPr>
        <p:txBody>
          <a:bodyPr wrap="square" rtlCol="0">
            <a:spAutoFit/>
          </a:bodyPr>
          <a:lstStyle/>
          <a:p>
            <a:r>
              <a:rPr lang="en-US" dirty="0"/>
              <a:t>9 Columns x 884 rows after dropping 40 rows containing null values</a:t>
            </a:r>
          </a:p>
        </p:txBody>
      </p:sp>
    </p:spTree>
    <p:extLst>
      <p:ext uri="{BB962C8B-B14F-4D97-AF65-F5344CB8AC3E}">
        <p14:creationId xmlns:p14="http://schemas.microsoft.com/office/powerpoint/2010/main" val="36449984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DA000-F2B6-A308-6DA7-D5E3D90052FB}"/>
              </a:ext>
            </a:extLst>
          </p:cNvPr>
          <p:cNvSpPr>
            <a:spLocks noGrp="1"/>
          </p:cNvSpPr>
          <p:nvPr>
            <p:ph type="title"/>
          </p:nvPr>
        </p:nvSpPr>
        <p:spPr>
          <a:xfrm>
            <a:off x="1524000" y="548640"/>
            <a:ext cx="9160475" cy="1132258"/>
          </a:xfrm>
        </p:spPr>
        <p:txBody>
          <a:bodyPr anchor="ctr">
            <a:normAutofit/>
          </a:bodyPr>
          <a:lstStyle/>
          <a:p>
            <a:pPr algn="ctr"/>
            <a:r>
              <a:rPr lang="en-US"/>
              <a:t>Goals/Questions</a:t>
            </a:r>
          </a:p>
        </p:txBody>
      </p:sp>
      <p:graphicFrame>
        <p:nvGraphicFramePr>
          <p:cNvPr id="5" name="Content Placeholder 2">
            <a:extLst>
              <a:ext uri="{FF2B5EF4-FFF2-40B4-BE49-F238E27FC236}">
                <a16:creationId xmlns:a16="http://schemas.microsoft.com/office/drawing/2014/main" id="{C829B514-4941-E8E0-640A-17F22D9C77C7}"/>
              </a:ext>
            </a:extLst>
          </p:cNvPr>
          <p:cNvGraphicFramePr>
            <a:graphicFrameLocks noGrp="1"/>
          </p:cNvGraphicFramePr>
          <p:nvPr>
            <p:ph idx="1"/>
            <p:extLst>
              <p:ext uri="{D42A27DB-BD31-4B8C-83A1-F6EECF244321}">
                <p14:modId xmlns:p14="http://schemas.microsoft.com/office/powerpoint/2010/main" val="1101874134"/>
              </p:ext>
            </p:extLst>
          </p:nvPr>
        </p:nvGraphicFramePr>
        <p:xfrm>
          <a:off x="930876" y="2037806"/>
          <a:ext cx="10335350" cy="406643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019872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7422F06-6017-4361-8872-E0E2CEB20B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4819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1E7B382-A07D-431F-D83D-6E7CC25C7771}"/>
              </a:ext>
            </a:extLst>
          </p:cNvPr>
          <p:cNvSpPr>
            <a:spLocks noGrp="1"/>
          </p:cNvSpPr>
          <p:nvPr>
            <p:ph type="title"/>
          </p:nvPr>
        </p:nvSpPr>
        <p:spPr>
          <a:xfrm>
            <a:off x="643468" y="643467"/>
            <a:ext cx="3415612" cy="5571066"/>
          </a:xfrm>
        </p:spPr>
        <p:txBody>
          <a:bodyPr>
            <a:normAutofit/>
          </a:bodyPr>
          <a:lstStyle/>
          <a:p>
            <a:r>
              <a:rPr lang="en-US">
                <a:solidFill>
                  <a:srgbClr val="FFFFFF"/>
                </a:solidFill>
              </a:rPr>
              <a:t>Predictions</a:t>
            </a:r>
          </a:p>
        </p:txBody>
      </p:sp>
      <p:graphicFrame>
        <p:nvGraphicFramePr>
          <p:cNvPr id="5" name="Content Placeholder 2">
            <a:extLst>
              <a:ext uri="{FF2B5EF4-FFF2-40B4-BE49-F238E27FC236}">
                <a16:creationId xmlns:a16="http://schemas.microsoft.com/office/drawing/2014/main" id="{334409FF-E214-8172-C393-64FB49C339C8}"/>
              </a:ext>
            </a:extLst>
          </p:cNvPr>
          <p:cNvGraphicFramePr>
            <a:graphicFrameLocks noGrp="1"/>
          </p:cNvGraphicFramePr>
          <p:nvPr>
            <p:ph idx="1"/>
            <p:extLst>
              <p:ext uri="{D42A27DB-BD31-4B8C-83A1-F6EECF244321}">
                <p14:modId xmlns:p14="http://schemas.microsoft.com/office/powerpoint/2010/main" val="469286726"/>
              </p:ext>
            </p:extLst>
          </p:nvPr>
        </p:nvGraphicFramePr>
        <p:xfrm>
          <a:off x="5603875" y="954088"/>
          <a:ext cx="5641975" cy="49212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167137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2" name="Rectangle 51">
            <a:extLst>
              <a:ext uri="{FF2B5EF4-FFF2-40B4-BE49-F238E27FC236}">
                <a16:creationId xmlns:a16="http://schemas.microsoft.com/office/drawing/2014/main" id="{709F25DB-27E4-4B94-B80D-681C53186F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97745" y="484632"/>
            <a:ext cx="7794722" cy="351194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06305059-0A7C-4D26-9791-C7476E390B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97745" y="4150595"/>
            <a:ext cx="7794722" cy="221966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B2853A7-2BA2-BC4B-7C10-75F43346E677}"/>
              </a:ext>
            </a:extLst>
          </p:cNvPr>
          <p:cNvSpPr>
            <a:spLocks noGrp="1"/>
          </p:cNvSpPr>
          <p:nvPr>
            <p:ph type="title"/>
          </p:nvPr>
        </p:nvSpPr>
        <p:spPr>
          <a:xfrm>
            <a:off x="4684903" y="4391025"/>
            <a:ext cx="6685507" cy="1738808"/>
          </a:xfrm>
        </p:spPr>
        <p:txBody>
          <a:bodyPr vert="horz" lIns="91440" tIns="45720" rIns="91440" bIns="45720" rtlCol="0">
            <a:normAutofit/>
          </a:bodyPr>
          <a:lstStyle/>
          <a:p>
            <a:r>
              <a:rPr lang="en-US" spc="200"/>
              <a:t>Delivery Time Distrubution</a:t>
            </a:r>
          </a:p>
        </p:txBody>
      </p:sp>
      <p:pic>
        <p:nvPicPr>
          <p:cNvPr id="5" name="Content Placeholder 4" descr="A diagram of a distribution of goods&#10;&#10;AI-generated content may be incorrect.">
            <a:extLst>
              <a:ext uri="{FF2B5EF4-FFF2-40B4-BE49-F238E27FC236}">
                <a16:creationId xmlns:a16="http://schemas.microsoft.com/office/drawing/2014/main" id="{3A848624-8F31-57F8-B890-A4D27AF303DD}"/>
              </a:ext>
            </a:extLst>
          </p:cNvPr>
          <p:cNvPicPr>
            <a:picLocks noChangeAspect="1"/>
          </p:cNvPicPr>
          <p:nvPr/>
        </p:nvPicPr>
        <p:blipFill>
          <a:blip r:embed="rId2">
            <a:extLst>
              <a:ext uri="{28A0092B-C50C-407E-A947-70E740481C1C}">
                <a14:useLocalDpi xmlns:a14="http://schemas.microsoft.com/office/drawing/2010/main" val="0"/>
              </a:ext>
            </a:extLst>
          </a:blip>
          <a:srcRect t="4603" r="1" b="1"/>
          <a:stretch/>
        </p:blipFill>
        <p:spPr>
          <a:xfrm>
            <a:off x="0" y="2707405"/>
            <a:ext cx="3897745" cy="3010224"/>
          </a:xfrm>
          <a:prstGeom prst="rect">
            <a:avLst/>
          </a:prstGeom>
        </p:spPr>
      </p:pic>
      <p:graphicFrame>
        <p:nvGraphicFramePr>
          <p:cNvPr id="58" name="Content Placeholder 8">
            <a:extLst>
              <a:ext uri="{FF2B5EF4-FFF2-40B4-BE49-F238E27FC236}">
                <a16:creationId xmlns:a16="http://schemas.microsoft.com/office/drawing/2014/main" id="{2323B0D0-1690-FE9B-1C86-2998393BC1E1}"/>
              </a:ext>
            </a:extLst>
          </p:cNvPr>
          <p:cNvGraphicFramePr>
            <a:graphicFrameLocks noGrp="1"/>
          </p:cNvGraphicFramePr>
          <p:nvPr>
            <p:ph idx="1"/>
          </p:nvPr>
        </p:nvGraphicFramePr>
        <p:xfrm>
          <a:off x="4219802" y="804998"/>
          <a:ext cx="7150608" cy="287121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7" name="Picture 6" descr="A screenshot of a computer code&#10;&#10;AI-generated content may be incorrect.">
            <a:extLst>
              <a:ext uri="{FF2B5EF4-FFF2-40B4-BE49-F238E27FC236}">
                <a16:creationId xmlns:a16="http://schemas.microsoft.com/office/drawing/2014/main" id="{1F92A490-BFBE-231E-C0AD-0E5B66A2CEA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3306" y="5773135"/>
            <a:ext cx="3834439" cy="938478"/>
          </a:xfrm>
          <a:prstGeom prst="rect">
            <a:avLst/>
          </a:prstGeom>
        </p:spPr>
      </p:pic>
      <p:cxnSp>
        <p:nvCxnSpPr>
          <p:cNvPr id="56" name="Straight Connector 55">
            <a:extLst>
              <a:ext uri="{FF2B5EF4-FFF2-40B4-BE49-F238E27FC236}">
                <a16:creationId xmlns:a16="http://schemas.microsoft.com/office/drawing/2014/main" id="{85452CC1-C80C-461C-B7FA-5743811F0CD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4422775" y="4803229"/>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971421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Picture 8" descr="A blue and white lights&#10;&#10;AI-generated content may be incorrect.">
            <a:extLst>
              <a:ext uri="{FF2B5EF4-FFF2-40B4-BE49-F238E27FC236}">
                <a16:creationId xmlns:a16="http://schemas.microsoft.com/office/drawing/2014/main" id="{FD316632-C89B-720A-37F7-679DC1EB0B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
            <a:ext cx="12191999" cy="6921305"/>
          </a:xfrm>
          <a:prstGeom prst="rect">
            <a:avLst/>
          </a:prstGeom>
        </p:spPr>
      </p:pic>
      <p:sp>
        <p:nvSpPr>
          <p:cNvPr id="2" name="Title 1">
            <a:extLst>
              <a:ext uri="{FF2B5EF4-FFF2-40B4-BE49-F238E27FC236}">
                <a16:creationId xmlns:a16="http://schemas.microsoft.com/office/drawing/2014/main" id="{FB0FC730-4934-C634-F316-55C687369063}"/>
              </a:ext>
            </a:extLst>
          </p:cNvPr>
          <p:cNvSpPr>
            <a:spLocks noGrp="1"/>
          </p:cNvSpPr>
          <p:nvPr>
            <p:ph type="title"/>
          </p:nvPr>
        </p:nvSpPr>
        <p:spPr>
          <a:xfrm>
            <a:off x="1024128" y="585216"/>
            <a:ext cx="6066818" cy="1499616"/>
          </a:xfrm>
        </p:spPr>
        <p:txBody>
          <a:bodyPr>
            <a:normAutofit/>
          </a:bodyPr>
          <a:lstStyle/>
          <a:p>
            <a:r>
              <a:rPr lang="en-US" dirty="0">
                <a:solidFill>
                  <a:schemeClr val="bg1"/>
                </a:solidFill>
              </a:rPr>
              <a:t>Data encoding</a:t>
            </a:r>
          </a:p>
        </p:txBody>
      </p:sp>
      <p:sp>
        <p:nvSpPr>
          <p:cNvPr id="3" name="Content Placeholder 2">
            <a:extLst>
              <a:ext uri="{FF2B5EF4-FFF2-40B4-BE49-F238E27FC236}">
                <a16:creationId xmlns:a16="http://schemas.microsoft.com/office/drawing/2014/main" id="{3051DA44-B007-EEC8-D151-C7DE0EC73847}"/>
              </a:ext>
            </a:extLst>
          </p:cNvPr>
          <p:cNvSpPr>
            <a:spLocks noGrp="1"/>
          </p:cNvSpPr>
          <p:nvPr>
            <p:ph idx="1"/>
          </p:nvPr>
        </p:nvSpPr>
        <p:spPr>
          <a:xfrm>
            <a:off x="1024128" y="2286000"/>
            <a:ext cx="6066818" cy="4023360"/>
          </a:xfrm>
        </p:spPr>
        <p:txBody>
          <a:bodyPr>
            <a:normAutofit/>
          </a:bodyPr>
          <a:lstStyle/>
          <a:p>
            <a:r>
              <a:rPr lang="en-US" dirty="0">
                <a:solidFill>
                  <a:schemeClr val="bg1"/>
                </a:solidFill>
              </a:rPr>
              <a:t>To start, there were some interesting features such as Vehicle_Type, Weather, Time_of_day, and </a:t>
            </a:r>
            <a:r>
              <a:rPr lang="en-US" dirty="0" err="1">
                <a:solidFill>
                  <a:schemeClr val="bg1"/>
                </a:solidFill>
              </a:rPr>
              <a:t>Traffic_levels</a:t>
            </a:r>
            <a:r>
              <a:rPr lang="en-US" dirty="0">
                <a:solidFill>
                  <a:schemeClr val="bg1"/>
                </a:solidFill>
              </a:rPr>
              <a:t>. However, all four of those were categorical data types.</a:t>
            </a:r>
          </a:p>
          <a:p>
            <a:endParaRPr lang="en-US" dirty="0"/>
          </a:p>
          <a:p>
            <a:pPr marL="0" indent="0">
              <a:buNone/>
            </a:pPr>
            <a:r>
              <a:rPr lang="en-US" dirty="0">
                <a:solidFill>
                  <a:schemeClr val="bg1"/>
                </a:solidFill>
              </a:rPr>
              <a:t>I used one hot encoding, to split those features to give them values that would allow for linear regression.</a:t>
            </a:r>
          </a:p>
        </p:txBody>
      </p:sp>
      <p:pic>
        <p:nvPicPr>
          <p:cNvPr id="5" name="Picture 4" descr="A screenshot of a computer&#10;&#10;AI-generated content may be incorrect.">
            <a:extLst>
              <a:ext uri="{FF2B5EF4-FFF2-40B4-BE49-F238E27FC236}">
                <a16:creationId xmlns:a16="http://schemas.microsoft.com/office/drawing/2014/main" id="{2BCAB9B2-2173-2DDC-E3A0-C64F0BBF97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93498" y="-1"/>
            <a:ext cx="4598502" cy="2041708"/>
          </a:xfrm>
          <a:prstGeom prst="rect">
            <a:avLst/>
          </a:prstGeom>
        </p:spPr>
      </p:pic>
      <p:pic>
        <p:nvPicPr>
          <p:cNvPr id="7" name="Picture 6">
            <a:extLst>
              <a:ext uri="{FF2B5EF4-FFF2-40B4-BE49-F238E27FC236}">
                <a16:creationId xmlns:a16="http://schemas.microsoft.com/office/drawing/2014/main" id="{76828780-9163-F3FA-58BC-9143FA5833E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5358384"/>
            <a:ext cx="12192000" cy="1618886"/>
          </a:xfrm>
          <a:prstGeom prst="rect">
            <a:avLst/>
          </a:prstGeom>
        </p:spPr>
      </p:pic>
    </p:spTree>
    <p:extLst>
      <p:ext uri="{BB962C8B-B14F-4D97-AF65-F5344CB8AC3E}">
        <p14:creationId xmlns:p14="http://schemas.microsoft.com/office/powerpoint/2010/main" val="234788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F81A1-7061-BD90-8316-775CF16C321B}"/>
              </a:ext>
            </a:extLst>
          </p:cNvPr>
          <p:cNvSpPr>
            <a:spLocks noGrp="1"/>
          </p:cNvSpPr>
          <p:nvPr>
            <p:ph type="title"/>
          </p:nvPr>
        </p:nvSpPr>
        <p:spPr/>
        <p:txBody>
          <a:bodyPr/>
          <a:lstStyle/>
          <a:p>
            <a:r>
              <a:rPr lang="en-US" dirty="0"/>
              <a:t>Linear Regression (1/3)</a:t>
            </a:r>
          </a:p>
        </p:txBody>
      </p:sp>
      <p:sp>
        <p:nvSpPr>
          <p:cNvPr id="3" name="Content Placeholder 2">
            <a:extLst>
              <a:ext uri="{FF2B5EF4-FFF2-40B4-BE49-F238E27FC236}">
                <a16:creationId xmlns:a16="http://schemas.microsoft.com/office/drawing/2014/main" id="{F1A7DCAD-DC55-956C-644F-528866419C08}"/>
              </a:ext>
            </a:extLst>
          </p:cNvPr>
          <p:cNvSpPr>
            <a:spLocks noGrp="1"/>
          </p:cNvSpPr>
          <p:nvPr>
            <p:ph idx="1"/>
          </p:nvPr>
        </p:nvSpPr>
        <p:spPr/>
        <p:txBody>
          <a:bodyPr>
            <a:normAutofit lnSpcReduction="10000"/>
          </a:bodyPr>
          <a:lstStyle/>
          <a:p>
            <a:pPr marL="0" indent="0">
              <a:buNone/>
            </a:pPr>
            <a:r>
              <a:rPr lang="en-US" dirty="0"/>
              <a:t>The variables that were encoded previously were put into a Linear model to see what effects each variable would have on delivery time.</a:t>
            </a:r>
          </a:p>
          <a:p>
            <a:pPr marL="0" indent="0">
              <a:buNone/>
            </a:pPr>
            <a:r>
              <a:rPr lang="en-US" dirty="0"/>
              <a:t>                                                                        </a:t>
            </a:r>
          </a:p>
          <a:p>
            <a:pPr marL="0" indent="0">
              <a:buNone/>
            </a:pPr>
            <a:endParaRPr lang="en-US" dirty="0"/>
          </a:p>
          <a:p>
            <a:pPr marL="0" indent="0">
              <a:buNone/>
            </a:pPr>
            <a:r>
              <a:rPr lang="en-US" dirty="0"/>
              <a:t>                                                                         </a:t>
            </a:r>
          </a:p>
          <a:p>
            <a:pPr marL="0" indent="0">
              <a:buNone/>
            </a:pPr>
            <a:r>
              <a:rPr lang="en-US" dirty="0"/>
              <a:t>                                                                         Following this Scatterplot, we can </a:t>
            </a:r>
          </a:p>
          <a:p>
            <a:pPr marL="0" indent="0">
              <a:buNone/>
            </a:pPr>
            <a:r>
              <a:rPr lang="en-US" dirty="0"/>
              <a:t>                                                                         infer that our model fits quite well</a:t>
            </a:r>
          </a:p>
          <a:p>
            <a:pPr marL="0" indent="0">
              <a:buNone/>
            </a:pPr>
            <a:r>
              <a:rPr lang="en-US" dirty="0"/>
              <a:t>                                                                         because our data points trend</a:t>
            </a:r>
          </a:p>
          <a:p>
            <a:pPr marL="0" indent="0">
              <a:buNone/>
            </a:pPr>
            <a:r>
              <a:rPr lang="en-US" dirty="0"/>
              <a:t>                                                                         towards the regression line.</a:t>
            </a:r>
          </a:p>
        </p:txBody>
      </p:sp>
      <p:pic>
        <p:nvPicPr>
          <p:cNvPr id="5" name="Picture 4" descr="A graph with blue dots&#10;&#10;AI-generated content may be incorrect.">
            <a:extLst>
              <a:ext uri="{FF2B5EF4-FFF2-40B4-BE49-F238E27FC236}">
                <a16:creationId xmlns:a16="http://schemas.microsoft.com/office/drawing/2014/main" id="{B50FBC1E-91DB-C6E7-0E20-D5E7A9AE9B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3468" y="2994915"/>
            <a:ext cx="6349788" cy="3742200"/>
          </a:xfrm>
          <a:prstGeom prst="rect">
            <a:avLst/>
          </a:prstGeom>
        </p:spPr>
      </p:pic>
    </p:spTree>
    <p:extLst>
      <p:ext uri="{BB962C8B-B14F-4D97-AF65-F5344CB8AC3E}">
        <p14:creationId xmlns:p14="http://schemas.microsoft.com/office/powerpoint/2010/main" val="42321321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FED010-0839-A0DD-9335-37C044DA0044}"/>
              </a:ext>
            </a:extLst>
          </p:cNvPr>
          <p:cNvSpPr>
            <a:spLocks noGrp="1"/>
          </p:cNvSpPr>
          <p:nvPr>
            <p:ph type="title"/>
          </p:nvPr>
        </p:nvSpPr>
        <p:spPr/>
        <p:txBody>
          <a:bodyPr/>
          <a:lstStyle/>
          <a:p>
            <a:r>
              <a:rPr lang="en-US" dirty="0"/>
              <a:t>Linear Regression (2/3)</a:t>
            </a:r>
          </a:p>
        </p:txBody>
      </p:sp>
      <p:pic>
        <p:nvPicPr>
          <p:cNvPr id="5" name="Content Placeholder 4" descr="A graph of a line graph&#10;&#10;AI-generated content may be incorrect.">
            <a:extLst>
              <a:ext uri="{FF2B5EF4-FFF2-40B4-BE49-F238E27FC236}">
                <a16:creationId xmlns:a16="http://schemas.microsoft.com/office/drawing/2014/main" id="{42BAE0A0-A509-7D89-7FC6-6A0F58B26A7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798" y="2835275"/>
            <a:ext cx="5591249" cy="4022725"/>
          </a:xfrm>
        </p:spPr>
      </p:pic>
      <p:pic>
        <p:nvPicPr>
          <p:cNvPr id="7" name="Picture 6">
            <a:extLst>
              <a:ext uri="{FF2B5EF4-FFF2-40B4-BE49-F238E27FC236}">
                <a16:creationId xmlns:a16="http://schemas.microsoft.com/office/drawing/2014/main" id="{224FC40D-DCE7-574B-8D84-F0E2B8F390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20648" y="5387210"/>
            <a:ext cx="2491956" cy="274344"/>
          </a:xfrm>
          <a:prstGeom prst="rect">
            <a:avLst/>
          </a:prstGeom>
        </p:spPr>
      </p:pic>
      <p:pic>
        <p:nvPicPr>
          <p:cNvPr id="9" name="Picture 8" descr="A computer code with text&#10;&#10;AI-generated content may be incorrect.">
            <a:extLst>
              <a:ext uri="{FF2B5EF4-FFF2-40B4-BE49-F238E27FC236}">
                <a16:creationId xmlns:a16="http://schemas.microsoft.com/office/drawing/2014/main" id="{4684C2F9-5E89-9B92-6A5E-AE91D1DABE4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20648" y="5798727"/>
            <a:ext cx="2377646" cy="784928"/>
          </a:xfrm>
          <a:prstGeom prst="rect">
            <a:avLst/>
          </a:prstGeom>
        </p:spPr>
      </p:pic>
      <p:sp>
        <p:nvSpPr>
          <p:cNvPr id="12" name="TextBox 11">
            <a:extLst>
              <a:ext uri="{FF2B5EF4-FFF2-40B4-BE49-F238E27FC236}">
                <a16:creationId xmlns:a16="http://schemas.microsoft.com/office/drawing/2014/main" id="{34C160E6-4C04-6B1D-15D9-8DAABF8B66E5}"/>
              </a:ext>
            </a:extLst>
          </p:cNvPr>
          <p:cNvSpPr txBox="1"/>
          <p:nvPr/>
        </p:nvSpPr>
        <p:spPr>
          <a:xfrm>
            <a:off x="6801729" y="1528990"/>
            <a:ext cx="4804117" cy="3139321"/>
          </a:xfrm>
          <a:prstGeom prst="rect">
            <a:avLst/>
          </a:prstGeom>
          <a:noFill/>
        </p:spPr>
        <p:txBody>
          <a:bodyPr wrap="square" rtlCol="0">
            <a:spAutoFit/>
          </a:bodyPr>
          <a:lstStyle/>
          <a:p>
            <a:r>
              <a:rPr lang="en-US" sz="2200" dirty="0"/>
              <a:t>As you can see, based off our R2 Score, MSE, and RSME our model is decently fitted. It could definitely be improved with more data which is likely the biggest thing holding it back.</a:t>
            </a:r>
          </a:p>
          <a:p>
            <a:endParaRPr lang="en-US" sz="2200" dirty="0"/>
          </a:p>
          <a:p>
            <a:r>
              <a:rPr lang="en-US" sz="2200" dirty="0"/>
              <a:t>Since the average Delivery Time is 56 minutes, an error time of 8.27 minutes. is pretty good.</a:t>
            </a:r>
          </a:p>
        </p:txBody>
      </p:sp>
    </p:spTree>
    <p:extLst>
      <p:ext uri="{BB962C8B-B14F-4D97-AF65-F5344CB8AC3E}">
        <p14:creationId xmlns:p14="http://schemas.microsoft.com/office/powerpoint/2010/main" val="41552457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E2A26-8DBA-C139-002A-4D9C91697D69}"/>
              </a:ext>
            </a:extLst>
          </p:cNvPr>
          <p:cNvSpPr>
            <a:spLocks noGrp="1"/>
          </p:cNvSpPr>
          <p:nvPr>
            <p:ph type="title"/>
          </p:nvPr>
        </p:nvSpPr>
        <p:spPr/>
        <p:txBody>
          <a:bodyPr/>
          <a:lstStyle/>
          <a:p>
            <a:r>
              <a:rPr lang="en-US" dirty="0"/>
              <a:t>Linear Regression (3/3)</a:t>
            </a:r>
          </a:p>
        </p:txBody>
      </p:sp>
      <p:pic>
        <p:nvPicPr>
          <p:cNvPr id="5" name="Content Placeholder 4" descr="A screen shot of a graph&#10;&#10;AI-generated content may be incorrect.">
            <a:extLst>
              <a:ext uri="{FF2B5EF4-FFF2-40B4-BE49-F238E27FC236}">
                <a16:creationId xmlns:a16="http://schemas.microsoft.com/office/drawing/2014/main" id="{A97B9D0E-15E3-3109-CEB2-3298D3AB6C4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2835275"/>
            <a:ext cx="7267948" cy="4022725"/>
          </a:xfrm>
        </p:spPr>
      </p:pic>
      <p:sp>
        <p:nvSpPr>
          <p:cNvPr id="6" name="TextBox 5">
            <a:extLst>
              <a:ext uri="{FF2B5EF4-FFF2-40B4-BE49-F238E27FC236}">
                <a16:creationId xmlns:a16="http://schemas.microsoft.com/office/drawing/2014/main" id="{34FFBFDC-ECB7-AAA1-651D-6DDB0B6A9835}"/>
              </a:ext>
            </a:extLst>
          </p:cNvPr>
          <p:cNvSpPr txBox="1"/>
          <p:nvPr/>
        </p:nvSpPr>
        <p:spPr>
          <a:xfrm>
            <a:off x="8039686" y="2112967"/>
            <a:ext cx="3763108" cy="4493538"/>
          </a:xfrm>
          <a:prstGeom prst="rect">
            <a:avLst/>
          </a:prstGeom>
          <a:noFill/>
        </p:spPr>
        <p:txBody>
          <a:bodyPr wrap="square" rtlCol="0">
            <a:spAutoFit/>
          </a:bodyPr>
          <a:lstStyle/>
          <a:p>
            <a:r>
              <a:rPr lang="en-US" sz="2200" dirty="0"/>
              <a:t>Shown are the effects each feature had on delivery time.</a:t>
            </a:r>
          </a:p>
          <a:p>
            <a:endParaRPr lang="en-US" sz="2200" dirty="0"/>
          </a:p>
          <a:p>
            <a:r>
              <a:rPr lang="en-US" sz="2200" dirty="0"/>
              <a:t>Funny enough, I was wrong and actually high levels of traffic, and weather have bigger effects on delivery time.</a:t>
            </a:r>
          </a:p>
          <a:p>
            <a:endParaRPr lang="en-US" sz="2200" dirty="0"/>
          </a:p>
          <a:p>
            <a:r>
              <a:rPr lang="en-US" sz="2200" dirty="0"/>
              <a:t>That said, we don’t know where this data set was collected from. It was likely in a populated city, and depending on location this data could drastically change.</a:t>
            </a:r>
          </a:p>
        </p:txBody>
      </p:sp>
    </p:spTree>
    <p:extLst>
      <p:ext uri="{BB962C8B-B14F-4D97-AF65-F5344CB8AC3E}">
        <p14:creationId xmlns:p14="http://schemas.microsoft.com/office/powerpoint/2010/main" val="37197893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EF973-F6C8-EFDD-0E23-06DF72635F08}"/>
              </a:ext>
            </a:extLst>
          </p:cNvPr>
          <p:cNvSpPr>
            <a:spLocks noGrp="1"/>
          </p:cNvSpPr>
          <p:nvPr>
            <p:ph type="title"/>
          </p:nvPr>
        </p:nvSpPr>
        <p:spPr/>
        <p:txBody>
          <a:bodyPr/>
          <a:lstStyle/>
          <a:p>
            <a:r>
              <a:rPr lang="en-US" dirty="0"/>
              <a:t>Logistic Regression (1/2)</a:t>
            </a:r>
          </a:p>
        </p:txBody>
      </p:sp>
      <p:pic>
        <p:nvPicPr>
          <p:cNvPr id="9" name="Content Placeholder 8" descr="A close-up of a white background&#10;&#10;AI-generated content may be incorrect.">
            <a:extLst>
              <a:ext uri="{FF2B5EF4-FFF2-40B4-BE49-F238E27FC236}">
                <a16:creationId xmlns:a16="http://schemas.microsoft.com/office/drawing/2014/main" id="{1C2E721C-588E-DA7A-D4FD-63682F4E70C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173372" y="5664336"/>
            <a:ext cx="3848433" cy="396274"/>
          </a:xfrm>
        </p:spPr>
      </p:pic>
      <p:pic>
        <p:nvPicPr>
          <p:cNvPr id="11" name="Picture 10" descr="A diagram of a logistic regression&#10;&#10;AI-generated content may be incorrect.">
            <a:extLst>
              <a:ext uri="{FF2B5EF4-FFF2-40B4-BE49-F238E27FC236}">
                <a16:creationId xmlns:a16="http://schemas.microsoft.com/office/drawing/2014/main" id="{7BDD254D-911A-9391-7F2D-B9DF2191B8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4337" y="2582229"/>
            <a:ext cx="4130398" cy="3589331"/>
          </a:xfrm>
          <a:prstGeom prst="rect">
            <a:avLst/>
          </a:prstGeom>
        </p:spPr>
      </p:pic>
      <p:sp>
        <p:nvSpPr>
          <p:cNvPr id="12" name="TextBox 11">
            <a:extLst>
              <a:ext uri="{FF2B5EF4-FFF2-40B4-BE49-F238E27FC236}">
                <a16:creationId xmlns:a16="http://schemas.microsoft.com/office/drawing/2014/main" id="{7522B734-6016-E5AB-56B9-1E2820323E77}"/>
              </a:ext>
            </a:extLst>
          </p:cNvPr>
          <p:cNvSpPr txBox="1"/>
          <p:nvPr/>
        </p:nvSpPr>
        <p:spPr>
          <a:xfrm>
            <a:off x="6096000" y="2166424"/>
            <a:ext cx="4185138" cy="3416320"/>
          </a:xfrm>
          <a:prstGeom prst="rect">
            <a:avLst/>
          </a:prstGeom>
          <a:noFill/>
        </p:spPr>
        <p:txBody>
          <a:bodyPr wrap="square" rtlCol="0">
            <a:spAutoFit/>
          </a:bodyPr>
          <a:lstStyle/>
          <a:p>
            <a:r>
              <a:rPr lang="en-US" dirty="0"/>
              <a:t>At the beginning of the presentation we determined that the average delivery time for an order was 56.43 minutes.</a:t>
            </a:r>
          </a:p>
          <a:p>
            <a:endParaRPr lang="en-US" dirty="0"/>
          </a:p>
          <a:p>
            <a:r>
              <a:rPr lang="en-US" dirty="0"/>
              <a:t>Using this data as a threshold for our logistic model we are able to determine if an order will be late or not.</a:t>
            </a:r>
          </a:p>
          <a:p>
            <a:endParaRPr lang="en-US" dirty="0"/>
          </a:p>
          <a:p>
            <a:r>
              <a:rPr lang="en-US" dirty="0"/>
              <a:t>Based off the confusion matrix our model is performing quite well with 90% (89.83) of  our predictions being true positives and true negatives.</a:t>
            </a:r>
          </a:p>
        </p:txBody>
      </p:sp>
    </p:spTree>
    <p:extLst>
      <p:ext uri="{BB962C8B-B14F-4D97-AF65-F5344CB8AC3E}">
        <p14:creationId xmlns:p14="http://schemas.microsoft.com/office/powerpoint/2010/main" val="33655694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42788-931B-A311-996D-A500CE96C78B}"/>
              </a:ext>
            </a:extLst>
          </p:cNvPr>
          <p:cNvSpPr>
            <a:spLocks noGrp="1"/>
          </p:cNvSpPr>
          <p:nvPr>
            <p:ph type="title"/>
          </p:nvPr>
        </p:nvSpPr>
        <p:spPr/>
        <p:txBody>
          <a:bodyPr/>
          <a:lstStyle/>
          <a:p>
            <a:r>
              <a:rPr lang="en-US" dirty="0"/>
              <a:t>Logistic Regression (2/2)</a:t>
            </a:r>
          </a:p>
        </p:txBody>
      </p:sp>
      <p:pic>
        <p:nvPicPr>
          <p:cNvPr id="5" name="Content Placeholder 4" descr="A black and white text on a white background&#10;&#10;AI-generated content may be incorrect.">
            <a:extLst>
              <a:ext uri="{FF2B5EF4-FFF2-40B4-BE49-F238E27FC236}">
                <a16:creationId xmlns:a16="http://schemas.microsoft.com/office/drawing/2014/main" id="{5AC7C142-B76F-B448-91E9-6836D764446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108147" y="5149881"/>
            <a:ext cx="1882303" cy="967824"/>
          </a:xfrm>
        </p:spPr>
      </p:pic>
      <p:pic>
        <p:nvPicPr>
          <p:cNvPr id="7" name="Picture 6" descr="A graph of a logistic curve&#10;&#10;AI-generated content may be incorrect.">
            <a:extLst>
              <a:ext uri="{FF2B5EF4-FFF2-40B4-BE49-F238E27FC236}">
                <a16:creationId xmlns:a16="http://schemas.microsoft.com/office/drawing/2014/main" id="{BA51DAE2-5334-73AC-25CA-D8318D8DA1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930" y="2181761"/>
            <a:ext cx="6668078" cy="4534293"/>
          </a:xfrm>
          <a:prstGeom prst="rect">
            <a:avLst/>
          </a:prstGeom>
        </p:spPr>
      </p:pic>
      <p:sp>
        <p:nvSpPr>
          <p:cNvPr id="8" name="TextBox 7">
            <a:extLst>
              <a:ext uri="{FF2B5EF4-FFF2-40B4-BE49-F238E27FC236}">
                <a16:creationId xmlns:a16="http://schemas.microsoft.com/office/drawing/2014/main" id="{025A44A7-9D2C-0CAD-7165-E745C6CA7781}"/>
              </a:ext>
            </a:extLst>
          </p:cNvPr>
          <p:cNvSpPr txBox="1"/>
          <p:nvPr/>
        </p:nvSpPr>
        <p:spPr>
          <a:xfrm>
            <a:off x="7680960" y="1988469"/>
            <a:ext cx="3622431" cy="2462213"/>
          </a:xfrm>
          <a:prstGeom prst="rect">
            <a:avLst/>
          </a:prstGeom>
          <a:noFill/>
        </p:spPr>
        <p:txBody>
          <a:bodyPr wrap="square" rtlCol="0">
            <a:spAutoFit/>
          </a:bodyPr>
          <a:lstStyle/>
          <a:p>
            <a:r>
              <a:rPr lang="en-US" sz="2200" dirty="0"/>
              <a:t>Based off our ROC curve our data is performing well.</a:t>
            </a:r>
          </a:p>
          <a:p>
            <a:endParaRPr lang="en-US" sz="2200" dirty="0"/>
          </a:p>
          <a:p>
            <a:r>
              <a:rPr lang="en-US" sz="2200" dirty="0"/>
              <a:t>All of our performance metrics around high as well, with our precision score of .82 being the lowest.</a:t>
            </a:r>
          </a:p>
        </p:txBody>
      </p:sp>
    </p:spTree>
    <p:extLst>
      <p:ext uri="{BB962C8B-B14F-4D97-AF65-F5344CB8AC3E}">
        <p14:creationId xmlns:p14="http://schemas.microsoft.com/office/powerpoint/2010/main" val="27682846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109556B-EAE9-4435-B409-0519F2CBDB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552267" cy="6858000"/>
          </a:xfrm>
          <a:prstGeom prst="rect">
            <a:avLst/>
          </a:prstGeom>
          <a:solidFill>
            <a:srgbClr val="3A3C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0FA486-CFF6-7CB7-1924-D987F107B938}"/>
              </a:ext>
            </a:extLst>
          </p:cNvPr>
          <p:cNvSpPr>
            <a:spLocks noGrp="1"/>
          </p:cNvSpPr>
          <p:nvPr>
            <p:ph type="title"/>
          </p:nvPr>
        </p:nvSpPr>
        <p:spPr>
          <a:xfrm>
            <a:off x="1024128" y="585216"/>
            <a:ext cx="6007027" cy="1499616"/>
          </a:xfrm>
        </p:spPr>
        <p:txBody>
          <a:bodyPr>
            <a:normAutofit/>
          </a:bodyPr>
          <a:lstStyle/>
          <a:p>
            <a:r>
              <a:rPr lang="en-US">
                <a:solidFill>
                  <a:srgbClr val="FFFFFF"/>
                </a:solidFill>
              </a:rPr>
              <a:t>Conclusions</a:t>
            </a:r>
          </a:p>
        </p:txBody>
      </p:sp>
      <p:cxnSp>
        <p:nvCxnSpPr>
          <p:cNvPr id="11" name="Straight Connector 10">
            <a:extLst>
              <a:ext uri="{FF2B5EF4-FFF2-40B4-BE49-F238E27FC236}">
                <a16:creationId xmlns:a16="http://schemas.microsoft.com/office/drawing/2014/main" id="{5814CCBE-423E-41B2-A9F3-82679F490EF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23B1CE3D-BB27-2960-E4EF-2795D5AC70E2}"/>
              </a:ext>
            </a:extLst>
          </p:cNvPr>
          <p:cNvSpPr>
            <a:spLocks noGrp="1"/>
          </p:cNvSpPr>
          <p:nvPr>
            <p:ph idx="1"/>
          </p:nvPr>
        </p:nvSpPr>
        <p:spPr>
          <a:xfrm>
            <a:off x="1024128" y="2286000"/>
            <a:ext cx="6007027" cy="4023360"/>
          </a:xfrm>
        </p:spPr>
        <p:txBody>
          <a:bodyPr>
            <a:normAutofit fontScale="92500" lnSpcReduction="20000"/>
          </a:bodyPr>
          <a:lstStyle/>
          <a:p>
            <a:r>
              <a:rPr lang="en-US" dirty="0">
                <a:solidFill>
                  <a:srgbClr val="FFFFFF"/>
                </a:solidFill>
              </a:rPr>
              <a:t>In the end, based off our linear model traffic, and weather have the biggest effects, with multiple categories being on the high and low end meaning they have the biggest effects on if an order will be late or not.</a:t>
            </a:r>
          </a:p>
          <a:p>
            <a:r>
              <a:rPr lang="en-US" dirty="0">
                <a:solidFill>
                  <a:srgbClr val="FFFFFF"/>
                </a:solidFill>
              </a:rPr>
              <a:t>It was also determined that you can predict if an order will be late or not depending on what the values in each row are.</a:t>
            </a:r>
          </a:p>
          <a:p>
            <a:r>
              <a:rPr lang="en-US" dirty="0">
                <a:solidFill>
                  <a:srgbClr val="FFFFFF"/>
                </a:solidFill>
              </a:rPr>
              <a:t>Using our logistic model determined using our average delivery time if an order was late or not.</a:t>
            </a:r>
          </a:p>
          <a:p>
            <a:r>
              <a:rPr lang="en-US" dirty="0">
                <a:solidFill>
                  <a:srgbClr val="FFFFFF"/>
                </a:solidFill>
              </a:rPr>
              <a:t>However, it was also determined that this dataset is really only useful in the city it was recorded in. Making entries into the data from your home city may not produce the same results. You may encounter heavier traffic more often in more populated cities and weather will vary depending on geographical location.</a:t>
            </a:r>
          </a:p>
        </p:txBody>
      </p:sp>
      <p:pic>
        <p:nvPicPr>
          <p:cNvPr id="7" name="Picture 6" descr="Blurred micro image of a street traffic">
            <a:extLst>
              <a:ext uri="{FF2B5EF4-FFF2-40B4-BE49-F238E27FC236}">
                <a16:creationId xmlns:a16="http://schemas.microsoft.com/office/drawing/2014/main" id="{8B58E48B-ACE1-A761-E2D0-6705783B6D42}"/>
              </a:ext>
            </a:extLst>
          </p:cNvPr>
          <p:cNvPicPr>
            <a:picLocks noChangeAspect="1"/>
          </p:cNvPicPr>
          <p:nvPr/>
        </p:nvPicPr>
        <p:blipFill>
          <a:blip r:embed="rId2"/>
          <a:srcRect l="20416" r="34424" b="-1"/>
          <a:stretch/>
        </p:blipFill>
        <p:spPr>
          <a:xfrm>
            <a:off x="7552266" y="10"/>
            <a:ext cx="4639734" cy="6857990"/>
          </a:xfrm>
          <a:prstGeom prst="rect">
            <a:avLst/>
          </a:prstGeom>
        </p:spPr>
      </p:pic>
    </p:spTree>
    <p:extLst>
      <p:ext uri="{BB962C8B-B14F-4D97-AF65-F5344CB8AC3E}">
        <p14:creationId xmlns:p14="http://schemas.microsoft.com/office/powerpoint/2010/main" val="92862533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docProps/app.xml><?xml version="1.0" encoding="utf-8"?>
<Properties xmlns="http://schemas.openxmlformats.org/officeDocument/2006/extended-properties" xmlns:vt="http://schemas.openxmlformats.org/officeDocument/2006/docPropsVTypes">
  <Template>Integral</Template>
  <TotalTime>1248</TotalTime>
  <Words>685</Words>
  <Application>Microsoft Office PowerPoint</Application>
  <PresentationFormat>Widescreen</PresentationFormat>
  <Paragraphs>53</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Tw Cen MT</vt:lpstr>
      <vt:lpstr>Tw Cen MT Condensed</vt:lpstr>
      <vt:lpstr>Wingdings 3</vt:lpstr>
      <vt:lpstr>Integral</vt:lpstr>
      <vt:lpstr>Where’s My Dinner? </vt:lpstr>
      <vt:lpstr>The Data!</vt:lpstr>
      <vt:lpstr>Goals/Questions</vt:lpstr>
      <vt:lpstr>Predictions</vt:lpstr>
      <vt:lpstr>Delivery Time Distrubution</vt:lpstr>
      <vt:lpstr>Data encoding</vt:lpstr>
      <vt:lpstr>Linear Regression (1/3)</vt:lpstr>
      <vt:lpstr>Linear Regression (2/3)</vt:lpstr>
      <vt:lpstr>Linear Regression (3/3)</vt:lpstr>
      <vt:lpstr>Logistic Regression (1/2)</vt:lpstr>
      <vt:lpstr>Logistic Regression (2/2)</vt:lpstr>
      <vt:lpstr>Conclusions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Sean P. Hand</dc:creator>
  <cp:lastModifiedBy>Sean P. Hand</cp:lastModifiedBy>
  <cp:revision>16</cp:revision>
  <dcterms:created xsi:type="dcterms:W3CDTF">2025-04-29T23:24:34Z</dcterms:created>
  <dcterms:modified xsi:type="dcterms:W3CDTF">2025-04-30T20:18:51Z</dcterms:modified>
</cp:coreProperties>
</file>